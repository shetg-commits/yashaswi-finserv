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DM Serif Display" charset="1" panose="00000000000000000000"/>
      <p:regular r:id="rId20"/>
    </p:embeddedFont>
    <p:embeddedFont>
      <p:font typeface="DM Sans Bold" charset="1" panose="000000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16.png" Type="http://schemas.openxmlformats.org/officeDocument/2006/relationships/image"/><Relationship Id="rId18" Target="../media/image17.svg" Type="http://schemas.openxmlformats.org/officeDocument/2006/relationships/image"/><Relationship Id="rId19" Target="../media/image18.png" Type="http://schemas.openxmlformats.org/officeDocument/2006/relationships/image"/><Relationship Id="rId2" Target="../media/image1.png" Type="http://schemas.openxmlformats.org/officeDocument/2006/relationships/image"/><Relationship Id="rId20" Target="../media/image19.svg" Type="http://schemas.openxmlformats.org/officeDocument/2006/relationships/image"/><Relationship Id="rId21" Target="../media/image20.png" Type="http://schemas.openxmlformats.org/officeDocument/2006/relationships/image"/><Relationship Id="rId22" Target="../media/image21.svg" Type="http://schemas.openxmlformats.org/officeDocument/2006/relationships/image"/><Relationship Id="rId23" Target="../media/image22.png" Type="http://schemas.openxmlformats.org/officeDocument/2006/relationships/image"/><Relationship Id="rId24" Target="../media/image23.svg" Type="http://schemas.openxmlformats.org/officeDocument/2006/relationships/image"/><Relationship Id="rId25" Target="../media/image24.png" Type="http://schemas.openxmlformats.org/officeDocument/2006/relationships/image"/><Relationship Id="rId26" Target="../media/image25.svg" Type="http://schemas.openxmlformats.org/officeDocument/2006/relationships/image"/><Relationship Id="rId27" Target="../media/image26.png" Type="http://schemas.openxmlformats.org/officeDocument/2006/relationships/image"/><Relationship Id="rId28" Target="../media/image27.svg" Type="http://schemas.openxmlformats.org/officeDocument/2006/relationships/image"/><Relationship Id="rId29" Target="../media/image28.png" Type="http://schemas.openxmlformats.org/officeDocument/2006/relationships/image"/><Relationship Id="rId3" Target="../media/image2.png" Type="http://schemas.openxmlformats.org/officeDocument/2006/relationships/image"/><Relationship Id="rId30" Target="../media/image29.sv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svg" Type="http://schemas.openxmlformats.org/officeDocument/2006/relationships/image"/><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 Id="rId9" Target="../media/image28.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svg" Type="http://schemas.openxmlformats.org/officeDocument/2006/relationships/image"/><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 Id="rId9" Target="../media/image2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svg" Type="http://schemas.openxmlformats.org/officeDocument/2006/relationships/image"/><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 Id="rId9" Target="../media/image2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svg" Type="http://schemas.openxmlformats.org/officeDocument/2006/relationships/image"/><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 Id="rId9" Target="../media/image28.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svg" Type="http://schemas.openxmlformats.org/officeDocument/2006/relationships/image"/><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 Id="rId9" Target="../media/image2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svg" Type="http://schemas.openxmlformats.org/officeDocument/2006/relationships/image"/><Relationship Id="rId11" Target="../media/image30.png" Type="http://schemas.openxmlformats.org/officeDocument/2006/relationships/image"/><Relationship Id="rId12" Target="../media/image31.png" Type="http://schemas.openxmlformats.org/officeDocument/2006/relationships/image"/><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 Id="rId9" Target="../media/image28.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svg" Type="http://schemas.openxmlformats.org/officeDocument/2006/relationships/image"/><Relationship Id="rId11" Target="../media/image32.png" Type="http://schemas.openxmlformats.org/officeDocument/2006/relationships/image"/><Relationship Id="rId12" Target="../media/image33.png" Type="http://schemas.openxmlformats.org/officeDocument/2006/relationships/image"/><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 Id="rId9" Target="../media/image2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svg" Type="http://schemas.openxmlformats.org/officeDocument/2006/relationships/image"/><Relationship Id="rId11" Target="../media/image34.png" Type="http://schemas.openxmlformats.org/officeDocument/2006/relationships/image"/><Relationship Id="rId12" Target="../media/image35.png" Type="http://schemas.openxmlformats.org/officeDocument/2006/relationships/image"/><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 Id="rId9" Target="../media/image2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svg" Type="http://schemas.openxmlformats.org/officeDocument/2006/relationships/image"/><Relationship Id="rId11" Target="../media/image36.png" Type="http://schemas.openxmlformats.org/officeDocument/2006/relationships/image"/><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 Id="rId9" Target="../media/image2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svg" Type="http://schemas.openxmlformats.org/officeDocument/2006/relationships/image"/><Relationship Id="rId11" Target="../media/image37.png" Type="http://schemas.openxmlformats.org/officeDocument/2006/relationships/image"/><Relationship Id="rId12" Target="../media/image38.png" Type="http://schemas.openxmlformats.org/officeDocument/2006/relationships/image"/><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 Id="rId9" Target="../media/image2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svg" Type="http://schemas.openxmlformats.org/officeDocument/2006/relationships/image"/><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 Id="rId9" Target="../media/image28.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svg" Type="http://schemas.openxmlformats.org/officeDocument/2006/relationships/image"/><Relationship Id="rId11" Target="https://lawrencelobo.com" TargetMode="External" Type="http://schemas.openxmlformats.org/officeDocument/2006/relationships/hyperlink"/><Relationship Id="rId12" Target="https://www.pradeephosmani.com" TargetMode="External" Type="http://schemas.openxmlformats.org/officeDocument/2006/relationships/hyperlink"/><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 Id="rId9" Target="../media/image28.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11" Target="../media/image12.png" Type="http://schemas.openxmlformats.org/officeDocument/2006/relationships/image"/><Relationship Id="rId12" Target="../media/image13.svg" Type="http://schemas.openxmlformats.org/officeDocument/2006/relationships/image"/><Relationship Id="rId13" Target="../media/image14.png" Type="http://schemas.openxmlformats.org/officeDocument/2006/relationships/image"/><Relationship Id="rId14" Target="../media/image15.svg" Type="http://schemas.openxmlformats.org/officeDocument/2006/relationships/image"/><Relationship Id="rId15" Target="../media/image16.png" Type="http://schemas.openxmlformats.org/officeDocument/2006/relationships/image"/><Relationship Id="rId16" Target="../media/image17.svg" Type="http://schemas.openxmlformats.org/officeDocument/2006/relationships/image"/><Relationship Id="rId17" Target="../media/image18.png" Type="http://schemas.openxmlformats.org/officeDocument/2006/relationships/image"/><Relationship Id="rId18" Target="../media/image19.svg" Type="http://schemas.openxmlformats.org/officeDocument/2006/relationships/image"/><Relationship Id="rId19" Target="../media/image20.png" Type="http://schemas.openxmlformats.org/officeDocument/2006/relationships/image"/><Relationship Id="rId2" Target="../media/image1.png" Type="http://schemas.openxmlformats.org/officeDocument/2006/relationships/image"/><Relationship Id="rId20" Target="../media/image21.svg" Type="http://schemas.openxmlformats.org/officeDocument/2006/relationships/image"/><Relationship Id="rId21" Target="../media/image22.png" Type="http://schemas.openxmlformats.org/officeDocument/2006/relationships/image"/><Relationship Id="rId22" Target="../media/image23.svg" Type="http://schemas.openxmlformats.org/officeDocument/2006/relationships/image"/><Relationship Id="rId23" Target="../media/image24.png" Type="http://schemas.openxmlformats.org/officeDocument/2006/relationships/image"/><Relationship Id="rId24" Target="../media/image25.svg" Type="http://schemas.openxmlformats.org/officeDocument/2006/relationships/image"/><Relationship Id="rId25" Target="../media/image26.png" Type="http://schemas.openxmlformats.org/officeDocument/2006/relationships/image"/><Relationship Id="rId26" Target="../media/image27.svg" Type="http://schemas.openxmlformats.org/officeDocument/2006/relationships/image"/><Relationship Id="rId27" Target="../media/image28.png" Type="http://schemas.openxmlformats.org/officeDocument/2006/relationships/image"/><Relationship Id="rId28" Target="../media/image29.sv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Freeform 3" id="3"/>
          <p:cNvSpPr/>
          <p:nvPr/>
        </p:nvSpPr>
        <p:spPr>
          <a:xfrm flipH="false" flipV="false" rot="0">
            <a:off x="-2329398" y="861489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030709" y="9258300"/>
            <a:ext cx="3059829" cy="751049"/>
          </a:xfrm>
          <a:custGeom>
            <a:avLst/>
            <a:gdLst/>
            <a:ahLst/>
            <a:cxnLst/>
            <a:rect r="r" b="b" t="t" l="l"/>
            <a:pathLst>
              <a:path h="751049" w="3059829">
                <a:moveTo>
                  <a:pt x="0" y="0"/>
                </a:moveTo>
                <a:lnTo>
                  <a:pt x="3059829" y="0"/>
                </a:lnTo>
                <a:lnTo>
                  <a:pt x="3059829" y="751049"/>
                </a:lnTo>
                <a:lnTo>
                  <a:pt x="0" y="75104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4236705" y="6409875"/>
            <a:ext cx="724985" cy="920616"/>
          </a:xfrm>
          <a:custGeom>
            <a:avLst/>
            <a:gdLst/>
            <a:ahLst/>
            <a:cxnLst/>
            <a:rect r="r" b="b" t="t" l="l"/>
            <a:pathLst>
              <a:path h="920616" w="724985">
                <a:moveTo>
                  <a:pt x="0" y="0"/>
                </a:moveTo>
                <a:lnTo>
                  <a:pt x="724986" y="0"/>
                </a:lnTo>
                <a:lnTo>
                  <a:pt x="724986" y="920616"/>
                </a:lnTo>
                <a:lnTo>
                  <a:pt x="0" y="92061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4215205" y="8540136"/>
            <a:ext cx="4602314" cy="3618569"/>
          </a:xfrm>
          <a:custGeom>
            <a:avLst/>
            <a:gdLst/>
            <a:ahLst/>
            <a:cxnLst/>
            <a:rect r="r" b="b" t="t" l="l"/>
            <a:pathLst>
              <a:path h="3618569" w="4602314">
                <a:moveTo>
                  <a:pt x="0" y="0"/>
                </a:moveTo>
                <a:lnTo>
                  <a:pt x="4602314" y="0"/>
                </a:lnTo>
                <a:lnTo>
                  <a:pt x="4602314" y="3618570"/>
                </a:lnTo>
                <a:lnTo>
                  <a:pt x="0" y="361857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7" id="7"/>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0">
            <a:off x="12686214" y="-2578193"/>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a:ln cap="sq">
            <a:noFill/>
            <a:prstDash val="solid"/>
            <a:miter/>
          </a:ln>
        </p:spPr>
      </p:sp>
      <p:sp>
        <p:nvSpPr>
          <p:cNvPr name="Freeform 9" id="9"/>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a:ln cap="sq">
            <a:noFill/>
            <a:prstDash val="solid"/>
            <a:miter/>
          </a:ln>
        </p:spPr>
      </p:sp>
      <p:sp>
        <p:nvSpPr>
          <p:cNvPr name="Freeform 10" id="10"/>
          <p:cNvSpPr/>
          <p:nvPr/>
        </p:nvSpPr>
        <p:spPr>
          <a:xfrm flipH="false" flipV="false" rot="0">
            <a:off x="7409323" y="-2700100"/>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a:ln cap="sq">
            <a:noFill/>
            <a:prstDash val="solid"/>
            <a:miter/>
          </a:ln>
        </p:spPr>
      </p:sp>
      <p:sp>
        <p:nvSpPr>
          <p:cNvPr name="Freeform 11" id="11"/>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a:ln cap="sq">
            <a:noFill/>
            <a:prstDash val="solid"/>
            <a:miter/>
          </a:ln>
        </p:spPr>
      </p:sp>
      <p:sp>
        <p:nvSpPr>
          <p:cNvPr name="Freeform 12" id="12"/>
          <p:cNvSpPr/>
          <p:nvPr/>
        </p:nvSpPr>
        <p:spPr>
          <a:xfrm flipH="false" flipV="false" rot="0">
            <a:off x="4831481" y="-1626507"/>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a:ln cap="sq">
            <a:noFill/>
            <a:prstDash val="solid"/>
            <a:miter/>
          </a:ln>
        </p:spPr>
      </p:sp>
      <p:sp>
        <p:nvSpPr>
          <p:cNvPr name="Freeform 13" id="13"/>
          <p:cNvSpPr/>
          <p:nvPr/>
        </p:nvSpPr>
        <p:spPr>
          <a:xfrm flipH="false" flipV="false" rot="0">
            <a:off x="17259300" y="2262342"/>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a:ln cap="sq">
            <a:noFill/>
            <a:prstDash val="solid"/>
            <a:miter/>
          </a:ln>
        </p:spPr>
      </p:sp>
      <p:sp>
        <p:nvSpPr>
          <p:cNvPr name="Freeform 14" id="14"/>
          <p:cNvSpPr/>
          <p:nvPr/>
        </p:nvSpPr>
        <p:spPr>
          <a:xfrm flipH="false" flipV="false" rot="0">
            <a:off x="2570549"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a:ln cap="sq">
            <a:noFill/>
            <a:prstDash val="solid"/>
            <a:miter/>
          </a:ln>
        </p:spPr>
      </p:sp>
      <p:sp>
        <p:nvSpPr>
          <p:cNvPr name="Freeform 15" id="15"/>
          <p:cNvSpPr/>
          <p:nvPr/>
        </p:nvSpPr>
        <p:spPr>
          <a:xfrm flipH="false" flipV="false" rot="-5282649">
            <a:off x="16440369" y="6970869"/>
            <a:ext cx="3382987" cy="1154444"/>
          </a:xfrm>
          <a:custGeom>
            <a:avLst/>
            <a:gdLst/>
            <a:ahLst/>
            <a:cxnLst/>
            <a:rect r="r" b="b" t="t" l="l"/>
            <a:pathLst>
              <a:path h="1154444" w="3382987">
                <a:moveTo>
                  <a:pt x="0" y="0"/>
                </a:moveTo>
                <a:lnTo>
                  <a:pt x="3382987" y="0"/>
                </a:lnTo>
                <a:lnTo>
                  <a:pt x="3382987" y="1154445"/>
                </a:lnTo>
                <a:lnTo>
                  <a:pt x="0" y="1154445"/>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a:ln cap="sq">
            <a:noFill/>
            <a:prstDash val="solid"/>
            <a:miter/>
          </a:ln>
        </p:spPr>
      </p:sp>
      <p:sp>
        <p:nvSpPr>
          <p:cNvPr name="Freeform 16" id="16"/>
          <p:cNvSpPr/>
          <p:nvPr/>
        </p:nvSpPr>
        <p:spPr>
          <a:xfrm flipH="false" flipV="false" rot="0">
            <a:off x="16978638" y="-642644"/>
            <a:ext cx="3104522" cy="3342688"/>
          </a:xfrm>
          <a:custGeom>
            <a:avLst/>
            <a:gdLst/>
            <a:ahLst/>
            <a:cxnLst/>
            <a:rect r="r" b="b" t="t" l="l"/>
            <a:pathLst>
              <a:path h="3342688" w="3104522">
                <a:moveTo>
                  <a:pt x="0" y="0"/>
                </a:moveTo>
                <a:lnTo>
                  <a:pt x="3104522" y="0"/>
                </a:lnTo>
                <a:lnTo>
                  <a:pt x="3104522" y="3342688"/>
                </a:lnTo>
                <a:lnTo>
                  <a:pt x="0" y="3342688"/>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a:ln cap="sq">
            <a:noFill/>
            <a:prstDash val="solid"/>
            <a:miter/>
          </a:ln>
        </p:spPr>
      </p:sp>
      <p:sp>
        <p:nvSpPr>
          <p:cNvPr name="TextBox 17" id="17"/>
          <p:cNvSpPr txBox="true"/>
          <p:nvPr/>
        </p:nvSpPr>
        <p:spPr>
          <a:xfrm rot="0">
            <a:off x="548872" y="1772849"/>
            <a:ext cx="17083333" cy="3678311"/>
          </a:xfrm>
          <a:prstGeom prst="rect">
            <a:avLst/>
          </a:prstGeom>
        </p:spPr>
        <p:txBody>
          <a:bodyPr anchor="t" rtlCol="false" tIns="0" lIns="0" bIns="0" rIns="0">
            <a:spAutoFit/>
          </a:bodyPr>
          <a:lstStyle/>
          <a:p>
            <a:pPr algn="ctr">
              <a:lnSpc>
                <a:spcPts val="9491"/>
              </a:lnSpc>
            </a:pPr>
            <a:r>
              <a:rPr lang="en-US" sz="10097">
                <a:solidFill>
                  <a:srgbClr val="000000"/>
                </a:solidFill>
                <a:latin typeface="DM Serif Display"/>
                <a:ea typeface="DM Serif Display"/>
                <a:cs typeface="DM Serif Display"/>
                <a:sym typeface="DM Serif Display"/>
              </a:rPr>
              <a:t>Yashaswi Finserv</a:t>
            </a:r>
          </a:p>
          <a:p>
            <a:pPr algn="ctr">
              <a:lnSpc>
                <a:spcPts val="9491"/>
              </a:lnSpc>
            </a:pPr>
            <a:r>
              <a:rPr lang="en-US" sz="10097">
                <a:solidFill>
                  <a:srgbClr val="000000"/>
                </a:solidFill>
                <a:latin typeface="DM Serif Display"/>
                <a:ea typeface="DM Serif Display"/>
                <a:cs typeface="DM Serif Display"/>
                <a:sym typeface="DM Serif Display"/>
              </a:rPr>
              <a:t>  Mutual Fund Distribution Website</a:t>
            </a:r>
          </a:p>
        </p:txBody>
      </p:sp>
      <p:sp>
        <p:nvSpPr>
          <p:cNvPr name="TextBox 18" id="18"/>
          <p:cNvSpPr txBox="true"/>
          <p:nvPr/>
        </p:nvSpPr>
        <p:spPr>
          <a:xfrm rot="0">
            <a:off x="4914102" y="5244608"/>
            <a:ext cx="8459795" cy="1843176"/>
          </a:xfrm>
          <a:prstGeom prst="rect">
            <a:avLst/>
          </a:prstGeom>
        </p:spPr>
        <p:txBody>
          <a:bodyPr anchor="t" rtlCol="false" tIns="0" lIns="0" bIns="0" rIns="0">
            <a:spAutoFit/>
          </a:bodyPr>
          <a:lstStyle/>
          <a:p>
            <a:pPr algn="ctr">
              <a:lnSpc>
                <a:spcPts val="4381"/>
              </a:lnSpc>
            </a:pPr>
          </a:p>
          <a:p>
            <a:pPr algn="ctr">
              <a:lnSpc>
                <a:spcPts val="5000"/>
              </a:lnSpc>
            </a:pPr>
            <a:r>
              <a:rPr lang="en-US" b="true" sz="5000" spc="-100">
                <a:solidFill>
                  <a:srgbClr val="000000"/>
                </a:solidFill>
                <a:latin typeface="DM Sans Bold"/>
                <a:ea typeface="DM Sans Bold"/>
                <a:cs typeface="DM Sans Bold"/>
                <a:sym typeface="DM Sans Bold"/>
              </a:rPr>
              <a:t>B.Anirudh</a:t>
            </a:r>
          </a:p>
          <a:p>
            <a:pPr algn="ctr">
              <a:lnSpc>
                <a:spcPts val="5000"/>
              </a:lnSpc>
            </a:pPr>
            <a:r>
              <a:rPr lang="en-US" b="true" sz="5000" spc="-100">
                <a:solidFill>
                  <a:srgbClr val="000000"/>
                </a:solidFill>
                <a:latin typeface="DM Sans Bold"/>
                <a:ea typeface="DM Sans Bold"/>
                <a:cs typeface="DM Sans Bold"/>
                <a:sym typeface="DM Sans Bold"/>
              </a:rPr>
              <a:t>Mithun Shet</a:t>
            </a:r>
          </a:p>
        </p:txBody>
      </p:sp>
      <p:sp>
        <p:nvSpPr>
          <p:cNvPr name="Freeform 19" id="19"/>
          <p:cNvSpPr/>
          <p:nvPr/>
        </p:nvSpPr>
        <p:spPr>
          <a:xfrm flipH="false" flipV="false" rot="0">
            <a:off x="1280812" y="6627476"/>
            <a:ext cx="724985" cy="920616"/>
          </a:xfrm>
          <a:custGeom>
            <a:avLst/>
            <a:gdLst/>
            <a:ahLst/>
            <a:cxnLst/>
            <a:rect r="r" b="b" t="t" l="l"/>
            <a:pathLst>
              <a:path h="920616" w="724985">
                <a:moveTo>
                  <a:pt x="0" y="0"/>
                </a:moveTo>
                <a:lnTo>
                  <a:pt x="724985" y="0"/>
                </a:lnTo>
                <a:lnTo>
                  <a:pt x="724985" y="920616"/>
                </a:lnTo>
                <a:lnTo>
                  <a:pt x="0" y="92061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Freeform 3" id="3"/>
          <p:cNvSpPr/>
          <p:nvPr/>
        </p:nvSpPr>
        <p:spPr>
          <a:xfrm flipH="false" flipV="false" rot="0">
            <a:off x="-848571" y="8919661"/>
            <a:ext cx="3870946" cy="950141"/>
          </a:xfrm>
          <a:custGeom>
            <a:avLst/>
            <a:gdLst/>
            <a:ahLst/>
            <a:cxnLst/>
            <a:rect r="r" b="b" t="t" l="l"/>
            <a:pathLst>
              <a:path h="950141" w="3870946">
                <a:moveTo>
                  <a:pt x="0" y="0"/>
                </a:moveTo>
                <a:lnTo>
                  <a:pt x="3870946" y="0"/>
                </a:lnTo>
                <a:lnTo>
                  <a:pt x="3870946" y="950141"/>
                </a:lnTo>
                <a:lnTo>
                  <a:pt x="0" y="9501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4472906" y="-2364815"/>
            <a:ext cx="4980952" cy="3731186"/>
          </a:xfrm>
          <a:custGeom>
            <a:avLst/>
            <a:gdLst/>
            <a:ahLst/>
            <a:cxnLst/>
            <a:rect r="r" b="b" t="t" l="l"/>
            <a:pathLst>
              <a:path h="3731186" w="4980952">
                <a:moveTo>
                  <a:pt x="0" y="0"/>
                </a:moveTo>
                <a:lnTo>
                  <a:pt x="4980951" y="0"/>
                </a:lnTo>
                <a:lnTo>
                  <a:pt x="4980951" y="3731186"/>
                </a:lnTo>
                <a:lnTo>
                  <a:pt x="0" y="37311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5" id="5"/>
          <p:cNvSpPr/>
          <p:nvPr/>
        </p:nvSpPr>
        <p:spPr>
          <a:xfrm flipH="false" flipV="false" rot="0">
            <a:off x="3431074" y="8919661"/>
            <a:ext cx="2587020" cy="2386526"/>
          </a:xfrm>
          <a:custGeom>
            <a:avLst/>
            <a:gdLst/>
            <a:ahLst/>
            <a:cxnLst/>
            <a:rect r="r" b="b" t="t" l="l"/>
            <a:pathLst>
              <a:path h="2386526" w="2587020">
                <a:moveTo>
                  <a:pt x="0" y="0"/>
                </a:moveTo>
                <a:lnTo>
                  <a:pt x="2587019" y="0"/>
                </a:lnTo>
                <a:lnTo>
                  <a:pt x="2587019" y="2386525"/>
                </a:lnTo>
                <a:lnTo>
                  <a:pt x="0" y="238652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6" id="6"/>
          <p:cNvSpPr/>
          <p:nvPr/>
        </p:nvSpPr>
        <p:spPr>
          <a:xfrm flipH="false" flipV="false" rot="0">
            <a:off x="-848571" y="-744412"/>
            <a:ext cx="2597326" cy="2796583"/>
          </a:xfrm>
          <a:custGeom>
            <a:avLst/>
            <a:gdLst/>
            <a:ahLst/>
            <a:cxnLst/>
            <a:rect r="r" b="b" t="t" l="l"/>
            <a:pathLst>
              <a:path h="2796583" w="2597326">
                <a:moveTo>
                  <a:pt x="0" y="0"/>
                </a:moveTo>
                <a:lnTo>
                  <a:pt x="2597327" y="0"/>
                </a:lnTo>
                <a:lnTo>
                  <a:pt x="2597327" y="2796583"/>
                </a:lnTo>
                <a:lnTo>
                  <a:pt x="0" y="279658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TextBox 7" id="7"/>
          <p:cNvSpPr txBox="true"/>
          <p:nvPr/>
        </p:nvSpPr>
        <p:spPr>
          <a:xfrm rot="0">
            <a:off x="1086902" y="1528281"/>
            <a:ext cx="15509500" cy="8020045"/>
          </a:xfrm>
          <a:prstGeom prst="rect">
            <a:avLst/>
          </a:prstGeom>
        </p:spPr>
        <p:txBody>
          <a:bodyPr anchor="t" rtlCol="false" tIns="0" lIns="0" bIns="0" rIns="0">
            <a:spAutoFit/>
          </a:bodyPr>
          <a:lstStyle/>
          <a:p>
            <a:pPr algn="ctr">
              <a:lnSpc>
                <a:spcPts val="12599"/>
              </a:lnSpc>
            </a:pPr>
            <a:r>
              <a:rPr lang="en-US" sz="9000">
                <a:solidFill>
                  <a:srgbClr val="000000"/>
                </a:solidFill>
                <a:latin typeface="DM Serif Display"/>
                <a:ea typeface="DM Serif Display"/>
                <a:cs typeface="DM Serif Display"/>
                <a:sym typeface="DM Serif Display"/>
              </a:rPr>
              <a:t>CONTENTS</a:t>
            </a:r>
          </a:p>
          <a:p>
            <a:pPr algn="l" marL="1079501" indent="-539750" lvl="1">
              <a:lnSpc>
                <a:spcPts val="8500"/>
              </a:lnSpc>
              <a:buFont typeface="Arial"/>
              <a:buChar char="•"/>
            </a:pPr>
            <a:r>
              <a:rPr lang="en-US" sz="5000">
                <a:solidFill>
                  <a:srgbClr val="000000"/>
                </a:solidFill>
                <a:latin typeface="DM Serif Display"/>
                <a:ea typeface="DM Serif Display"/>
                <a:cs typeface="DM Serif Display"/>
                <a:sym typeface="DM Serif Display"/>
              </a:rPr>
              <a:t>Introduction</a:t>
            </a:r>
          </a:p>
          <a:p>
            <a:pPr algn="l" marL="1079501" indent="-539750" lvl="1">
              <a:lnSpc>
                <a:spcPts val="8500"/>
              </a:lnSpc>
              <a:buFont typeface="Arial"/>
              <a:buChar char="•"/>
            </a:pPr>
            <a:r>
              <a:rPr lang="en-US" sz="5000">
                <a:solidFill>
                  <a:srgbClr val="000000"/>
                </a:solidFill>
                <a:latin typeface="DM Serif Display"/>
                <a:ea typeface="DM Serif Display"/>
                <a:cs typeface="DM Serif Display"/>
                <a:sym typeface="DM Serif Display"/>
              </a:rPr>
              <a:t>Client Information</a:t>
            </a:r>
          </a:p>
          <a:p>
            <a:pPr algn="l" marL="1079501" indent="-539750" lvl="1">
              <a:lnSpc>
                <a:spcPts val="8500"/>
              </a:lnSpc>
              <a:buFont typeface="Arial"/>
              <a:buChar char="•"/>
            </a:pPr>
            <a:r>
              <a:rPr lang="en-US" sz="5000">
                <a:solidFill>
                  <a:srgbClr val="000000"/>
                </a:solidFill>
                <a:latin typeface="DM Serif Display"/>
                <a:ea typeface="DM Serif Display"/>
                <a:cs typeface="DM Serif Display"/>
                <a:sym typeface="DM Serif Display"/>
              </a:rPr>
              <a:t>Objectives</a:t>
            </a:r>
          </a:p>
          <a:p>
            <a:pPr algn="l" marL="1079501" indent="-539750" lvl="1">
              <a:lnSpc>
                <a:spcPts val="8500"/>
              </a:lnSpc>
              <a:buFont typeface="Arial"/>
              <a:buChar char="•"/>
            </a:pPr>
            <a:r>
              <a:rPr lang="en-US" sz="5000">
                <a:solidFill>
                  <a:srgbClr val="000000"/>
                </a:solidFill>
                <a:latin typeface="DM Serif Display"/>
                <a:ea typeface="DM Serif Display"/>
                <a:cs typeface="DM Serif Display"/>
                <a:sym typeface="DM Serif Display"/>
              </a:rPr>
              <a:t>Wireframe Design</a:t>
            </a:r>
          </a:p>
          <a:p>
            <a:pPr algn="l" marL="1079501" indent="-539750" lvl="1">
              <a:lnSpc>
                <a:spcPts val="8500"/>
              </a:lnSpc>
              <a:buFont typeface="Arial"/>
              <a:buChar char="•"/>
            </a:pPr>
            <a:r>
              <a:rPr lang="en-US" sz="5000">
                <a:solidFill>
                  <a:srgbClr val="000000"/>
                </a:solidFill>
                <a:latin typeface="DM Serif Display"/>
                <a:ea typeface="DM Serif Display"/>
                <a:cs typeface="DM Serif Display"/>
                <a:sym typeface="DM Serif Display"/>
              </a:rPr>
              <a:t>References</a:t>
            </a:r>
          </a:p>
          <a:p>
            <a:pPr algn="ctr">
              <a:lnSpc>
                <a:spcPts val="8400"/>
              </a:lnSpc>
              <a:spcBef>
                <a:spcPct val="0"/>
              </a:spcBef>
            </a:pP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Freeform 3" id="3"/>
          <p:cNvSpPr/>
          <p:nvPr/>
        </p:nvSpPr>
        <p:spPr>
          <a:xfrm flipH="false" flipV="false" rot="0">
            <a:off x="-848571" y="9138258"/>
            <a:ext cx="3870946" cy="950141"/>
          </a:xfrm>
          <a:custGeom>
            <a:avLst/>
            <a:gdLst/>
            <a:ahLst/>
            <a:cxnLst/>
            <a:rect r="r" b="b" t="t" l="l"/>
            <a:pathLst>
              <a:path h="950141" w="3870946">
                <a:moveTo>
                  <a:pt x="0" y="0"/>
                </a:moveTo>
                <a:lnTo>
                  <a:pt x="3870946" y="0"/>
                </a:lnTo>
                <a:lnTo>
                  <a:pt x="3870946" y="950142"/>
                </a:lnTo>
                <a:lnTo>
                  <a:pt x="0" y="9501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260417" y="-2273980"/>
            <a:ext cx="4980952" cy="3731186"/>
          </a:xfrm>
          <a:custGeom>
            <a:avLst/>
            <a:gdLst/>
            <a:ahLst/>
            <a:cxnLst/>
            <a:rect r="r" b="b" t="t" l="l"/>
            <a:pathLst>
              <a:path h="3731186" w="4980952">
                <a:moveTo>
                  <a:pt x="0" y="0"/>
                </a:moveTo>
                <a:lnTo>
                  <a:pt x="4980952" y="0"/>
                </a:lnTo>
                <a:lnTo>
                  <a:pt x="4980952" y="3731186"/>
                </a:lnTo>
                <a:lnTo>
                  <a:pt x="0" y="37311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5" id="5"/>
          <p:cNvSpPr/>
          <p:nvPr/>
        </p:nvSpPr>
        <p:spPr>
          <a:xfrm flipH="false" flipV="false" rot="0">
            <a:off x="16170735" y="8420066"/>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6" id="6"/>
          <p:cNvSpPr/>
          <p:nvPr/>
        </p:nvSpPr>
        <p:spPr>
          <a:xfrm flipH="false" flipV="false" rot="0">
            <a:off x="-211761" y="0"/>
            <a:ext cx="2597326" cy="2796583"/>
          </a:xfrm>
          <a:custGeom>
            <a:avLst/>
            <a:gdLst/>
            <a:ahLst/>
            <a:cxnLst/>
            <a:rect r="r" b="b" t="t" l="l"/>
            <a:pathLst>
              <a:path h="2796583" w="2597326">
                <a:moveTo>
                  <a:pt x="0" y="0"/>
                </a:moveTo>
                <a:lnTo>
                  <a:pt x="2597326" y="0"/>
                </a:lnTo>
                <a:lnTo>
                  <a:pt x="2597326" y="2796583"/>
                </a:lnTo>
                <a:lnTo>
                  <a:pt x="0" y="279658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TextBox 7" id="7"/>
          <p:cNvSpPr txBox="true"/>
          <p:nvPr/>
        </p:nvSpPr>
        <p:spPr>
          <a:xfrm rot="0">
            <a:off x="5126355" y="1740389"/>
            <a:ext cx="8035290" cy="1533525"/>
          </a:xfrm>
          <a:prstGeom prst="rect">
            <a:avLst/>
          </a:prstGeom>
        </p:spPr>
        <p:txBody>
          <a:bodyPr anchor="t" rtlCol="false" tIns="0" lIns="0" bIns="0" rIns="0">
            <a:spAutoFit/>
          </a:bodyPr>
          <a:lstStyle/>
          <a:p>
            <a:pPr algn="ctr">
              <a:lnSpc>
                <a:spcPts val="12599"/>
              </a:lnSpc>
              <a:spcBef>
                <a:spcPct val="0"/>
              </a:spcBef>
            </a:pPr>
            <a:r>
              <a:rPr lang="en-US" sz="9000">
                <a:solidFill>
                  <a:srgbClr val="000000"/>
                </a:solidFill>
                <a:latin typeface="DM Serif Display"/>
                <a:ea typeface="DM Serif Display"/>
                <a:cs typeface="DM Serif Display"/>
                <a:sym typeface="DM Serif Display"/>
              </a:rPr>
              <a:t>INTRODUCTION</a:t>
            </a:r>
          </a:p>
        </p:txBody>
      </p:sp>
      <p:sp>
        <p:nvSpPr>
          <p:cNvPr name="TextBox 8" id="8"/>
          <p:cNvSpPr txBox="true"/>
          <p:nvPr/>
        </p:nvSpPr>
        <p:spPr>
          <a:xfrm rot="0">
            <a:off x="2279741" y="3578714"/>
            <a:ext cx="13728518" cy="4239777"/>
          </a:xfrm>
          <a:prstGeom prst="rect">
            <a:avLst/>
          </a:prstGeom>
        </p:spPr>
        <p:txBody>
          <a:bodyPr anchor="t" rtlCol="false" tIns="0" lIns="0" bIns="0" rIns="0">
            <a:spAutoFit/>
          </a:bodyPr>
          <a:lstStyle/>
          <a:p>
            <a:pPr algn="ctr">
              <a:lnSpc>
                <a:spcPts val="5651"/>
              </a:lnSpc>
            </a:pPr>
            <a:r>
              <a:rPr lang="en-US" sz="3467">
                <a:solidFill>
                  <a:srgbClr val="000000"/>
                </a:solidFill>
                <a:latin typeface="DM Serif Display"/>
                <a:ea typeface="DM Serif Display"/>
                <a:cs typeface="DM Serif Display"/>
                <a:sym typeface="DM Serif Display"/>
              </a:rPr>
              <a:t>This</a:t>
            </a:r>
            <a:r>
              <a:rPr lang="en-US" sz="3467">
                <a:solidFill>
                  <a:srgbClr val="000000"/>
                </a:solidFill>
                <a:latin typeface="DM Serif Display"/>
                <a:ea typeface="DM Serif Display"/>
                <a:cs typeface="DM Serif Display"/>
                <a:sym typeface="DM Serif Display"/>
              </a:rPr>
              <a:t> project sets up a web space where Yashaswi Finserv can display its mutual fund offerings while making advice easier to reach and building confidence through clear design. Instead of complex jargon, it uses plain layouts so users stay comfortable. Communication runs smoothly since features are built around real client-distributor chats. Simplicity drives every part, keeping things light but effective.</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Freeform 3" id="3"/>
          <p:cNvSpPr/>
          <p:nvPr/>
        </p:nvSpPr>
        <p:spPr>
          <a:xfrm flipH="false" flipV="false" rot="0">
            <a:off x="-848571" y="9138258"/>
            <a:ext cx="3870946" cy="950141"/>
          </a:xfrm>
          <a:custGeom>
            <a:avLst/>
            <a:gdLst/>
            <a:ahLst/>
            <a:cxnLst/>
            <a:rect r="r" b="b" t="t" l="l"/>
            <a:pathLst>
              <a:path h="950141" w="3870946">
                <a:moveTo>
                  <a:pt x="0" y="0"/>
                </a:moveTo>
                <a:lnTo>
                  <a:pt x="3870946" y="0"/>
                </a:lnTo>
                <a:lnTo>
                  <a:pt x="3870946" y="950142"/>
                </a:lnTo>
                <a:lnTo>
                  <a:pt x="0" y="9501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260417" y="-2273980"/>
            <a:ext cx="4980952" cy="3731186"/>
          </a:xfrm>
          <a:custGeom>
            <a:avLst/>
            <a:gdLst/>
            <a:ahLst/>
            <a:cxnLst/>
            <a:rect r="r" b="b" t="t" l="l"/>
            <a:pathLst>
              <a:path h="3731186" w="4980952">
                <a:moveTo>
                  <a:pt x="0" y="0"/>
                </a:moveTo>
                <a:lnTo>
                  <a:pt x="4980952" y="0"/>
                </a:lnTo>
                <a:lnTo>
                  <a:pt x="4980952" y="3731186"/>
                </a:lnTo>
                <a:lnTo>
                  <a:pt x="0" y="37311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5" id="5"/>
          <p:cNvSpPr/>
          <p:nvPr/>
        </p:nvSpPr>
        <p:spPr>
          <a:xfrm flipH="false" flipV="false" rot="0">
            <a:off x="16170735" y="8420066"/>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6" id="6"/>
          <p:cNvSpPr/>
          <p:nvPr/>
        </p:nvSpPr>
        <p:spPr>
          <a:xfrm flipH="false" flipV="false" rot="0">
            <a:off x="-211761" y="0"/>
            <a:ext cx="2597326" cy="2796583"/>
          </a:xfrm>
          <a:custGeom>
            <a:avLst/>
            <a:gdLst/>
            <a:ahLst/>
            <a:cxnLst/>
            <a:rect r="r" b="b" t="t" l="l"/>
            <a:pathLst>
              <a:path h="2796583" w="2597326">
                <a:moveTo>
                  <a:pt x="0" y="0"/>
                </a:moveTo>
                <a:lnTo>
                  <a:pt x="2597326" y="0"/>
                </a:lnTo>
                <a:lnTo>
                  <a:pt x="2597326" y="2796583"/>
                </a:lnTo>
                <a:lnTo>
                  <a:pt x="0" y="279658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TextBox 7" id="7"/>
          <p:cNvSpPr txBox="true"/>
          <p:nvPr/>
        </p:nvSpPr>
        <p:spPr>
          <a:xfrm rot="0">
            <a:off x="4461093" y="1740389"/>
            <a:ext cx="9365814" cy="1533525"/>
          </a:xfrm>
          <a:prstGeom prst="rect">
            <a:avLst/>
          </a:prstGeom>
        </p:spPr>
        <p:txBody>
          <a:bodyPr anchor="t" rtlCol="false" tIns="0" lIns="0" bIns="0" rIns="0">
            <a:spAutoFit/>
          </a:bodyPr>
          <a:lstStyle/>
          <a:p>
            <a:pPr algn="ctr">
              <a:lnSpc>
                <a:spcPts val="12599"/>
              </a:lnSpc>
              <a:spcBef>
                <a:spcPct val="0"/>
              </a:spcBef>
            </a:pPr>
            <a:r>
              <a:rPr lang="en-US" sz="9000">
                <a:solidFill>
                  <a:srgbClr val="000000"/>
                </a:solidFill>
                <a:latin typeface="DM Serif Display"/>
                <a:ea typeface="DM Serif Display"/>
                <a:cs typeface="DM Serif Display"/>
                <a:sym typeface="DM Serif Display"/>
              </a:rPr>
              <a:t>Client Information</a:t>
            </a:r>
          </a:p>
        </p:txBody>
      </p:sp>
      <p:sp>
        <p:nvSpPr>
          <p:cNvPr name="TextBox 8" id="8"/>
          <p:cNvSpPr txBox="true"/>
          <p:nvPr/>
        </p:nvSpPr>
        <p:spPr>
          <a:xfrm rot="0">
            <a:off x="1269944" y="3418479"/>
            <a:ext cx="15748112" cy="3692336"/>
          </a:xfrm>
          <a:prstGeom prst="rect">
            <a:avLst/>
          </a:prstGeom>
        </p:spPr>
        <p:txBody>
          <a:bodyPr anchor="t" rtlCol="false" tIns="0" lIns="0" bIns="0" rIns="0">
            <a:spAutoFit/>
          </a:bodyPr>
          <a:lstStyle/>
          <a:p>
            <a:pPr algn="ctr">
              <a:lnSpc>
                <a:spcPts val="4910"/>
              </a:lnSpc>
              <a:spcBef>
                <a:spcPct val="0"/>
              </a:spcBef>
            </a:pPr>
            <a:r>
              <a:rPr lang="en-US" sz="3507">
                <a:solidFill>
                  <a:srgbClr val="000000"/>
                </a:solidFill>
                <a:latin typeface="DM Serif Display"/>
                <a:ea typeface="DM Serif Display"/>
                <a:cs typeface="DM Serif Display"/>
                <a:sym typeface="DM Serif Display"/>
              </a:rPr>
              <a:t>Yash</a:t>
            </a:r>
            <a:r>
              <a:rPr lang="en-US" sz="3507">
                <a:solidFill>
                  <a:srgbClr val="000000"/>
                </a:solidFill>
                <a:latin typeface="DM Serif Display"/>
                <a:ea typeface="DM Serif Display"/>
                <a:cs typeface="DM Serif Display"/>
                <a:sym typeface="DM Serif Display"/>
              </a:rPr>
              <a:t>aswi Finserv operates under Pavan Tavargeri - an AMFI-certified distributor - offering clear advice on mutual funds. Located in Hubli, it emphasizes growing wealth through smart SIP strategies instead of generic plans. Tax-saving solutions come included alongside tailored financial tips built on honesty. Clients get straightforward support without hidden agendas or confusing terms.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Freeform 3" id="3"/>
          <p:cNvSpPr/>
          <p:nvPr/>
        </p:nvSpPr>
        <p:spPr>
          <a:xfrm flipH="false" flipV="false" rot="0">
            <a:off x="-848571" y="9138258"/>
            <a:ext cx="3870946" cy="950141"/>
          </a:xfrm>
          <a:custGeom>
            <a:avLst/>
            <a:gdLst/>
            <a:ahLst/>
            <a:cxnLst/>
            <a:rect r="r" b="b" t="t" l="l"/>
            <a:pathLst>
              <a:path h="950141" w="3870946">
                <a:moveTo>
                  <a:pt x="0" y="0"/>
                </a:moveTo>
                <a:lnTo>
                  <a:pt x="3870946" y="0"/>
                </a:lnTo>
                <a:lnTo>
                  <a:pt x="3870946" y="950142"/>
                </a:lnTo>
                <a:lnTo>
                  <a:pt x="0" y="9501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72018" y="-1297499"/>
            <a:ext cx="4980952" cy="3731186"/>
          </a:xfrm>
          <a:custGeom>
            <a:avLst/>
            <a:gdLst/>
            <a:ahLst/>
            <a:cxnLst/>
            <a:rect r="r" b="b" t="t" l="l"/>
            <a:pathLst>
              <a:path h="3731186" w="4980952">
                <a:moveTo>
                  <a:pt x="0" y="0"/>
                </a:moveTo>
                <a:lnTo>
                  <a:pt x="4980952" y="0"/>
                </a:lnTo>
                <a:lnTo>
                  <a:pt x="4980952" y="3731186"/>
                </a:lnTo>
                <a:lnTo>
                  <a:pt x="0" y="37311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5" id="5"/>
          <p:cNvSpPr/>
          <p:nvPr/>
        </p:nvSpPr>
        <p:spPr>
          <a:xfrm flipH="false" flipV="false" rot="0">
            <a:off x="16170735" y="8420066"/>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6" id="6"/>
          <p:cNvSpPr/>
          <p:nvPr/>
        </p:nvSpPr>
        <p:spPr>
          <a:xfrm flipH="false" flipV="false" rot="0">
            <a:off x="-211761" y="0"/>
            <a:ext cx="2597326" cy="2796583"/>
          </a:xfrm>
          <a:custGeom>
            <a:avLst/>
            <a:gdLst/>
            <a:ahLst/>
            <a:cxnLst/>
            <a:rect r="r" b="b" t="t" l="l"/>
            <a:pathLst>
              <a:path h="2796583" w="2597326">
                <a:moveTo>
                  <a:pt x="0" y="0"/>
                </a:moveTo>
                <a:lnTo>
                  <a:pt x="2597326" y="0"/>
                </a:lnTo>
                <a:lnTo>
                  <a:pt x="2597326" y="2796583"/>
                </a:lnTo>
                <a:lnTo>
                  <a:pt x="0" y="279658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TextBox 7" id="7"/>
          <p:cNvSpPr txBox="true"/>
          <p:nvPr/>
        </p:nvSpPr>
        <p:spPr>
          <a:xfrm rot="0">
            <a:off x="6488192" y="1585962"/>
            <a:ext cx="5311616" cy="1533525"/>
          </a:xfrm>
          <a:prstGeom prst="rect">
            <a:avLst/>
          </a:prstGeom>
        </p:spPr>
        <p:txBody>
          <a:bodyPr anchor="t" rtlCol="false" tIns="0" lIns="0" bIns="0" rIns="0">
            <a:spAutoFit/>
          </a:bodyPr>
          <a:lstStyle/>
          <a:p>
            <a:pPr algn="ctr">
              <a:lnSpc>
                <a:spcPts val="12599"/>
              </a:lnSpc>
              <a:spcBef>
                <a:spcPct val="0"/>
              </a:spcBef>
            </a:pPr>
            <a:r>
              <a:rPr lang="en-US" sz="9000">
                <a:solidFill>
                  <a:srgbClr val="000000"/>
                </a:solidFill>
                <a:latin typeface="DM Serif Display"/>
                <a:ea typeface="DM Serif Display"/>
                <a:cs typeface="DM Serif Display"/>
                <a:sym typeface="DM Serif Display"/>
              </a:rPr>
              <a:t>Objectives</a:t>
            </a:r>
          </a:p>
        </p:txBody>
      </p:sp>
      <p:sp>
        <p:nvSpPr>
          <p:cNvPr name="TextBox 8" id="8"/>
          <p:cNvSpPr txBox="true"/>
          <p:nvPr/>
        </p:nvSpPr>
        <p:spPr>
          <a:xfrm rot="0">
            <a:off x="1623679" y="2748012"/>
            <a:ext cx="14547056" cy="3799967"/>
          </a:xfrm>
          <a:prstGeom prst="rect">
            <a:avLst/>
          </a:prstGeom>
        </p:spPr>
        <p:txBody>
          <a:bodyPr anchor="t" rtlCol="false" tIns="0" lIns="0" bIns="0" rIns="0">
            <a:spAutoFit/>
          </a:bodyPr>
          <a:lstStyle/>
          <a:p>
            <a:pPr algn="l">
              <a:lnSpc>
                <a:spcPts val="7744"/>
              </a:lnSpc>
            </a:pPr>
          </a:p>
          <a:p>
            <a:pPr algn="l" marL="690881" indent="-345440" lvl="1">
              <a:lnSpc>
                <a:spcPts val="7744"/>
              </a:lnSpc>
              <a:buFont typeface="Arial"/>
              <a:buChar char="•"/>
            </a:pPr>
            <a:r>
              <a:rPr lang="en-US" sz="3200">
                <a:solidFill>
                  <a:srgbClr val="000000"/>
                </a:solidFill>
                <a:latin typeface="DM Serif Display"/>
                <a:ea typeface="DM Serif Display"/>
                <a:cs typeface="DM Serif Display"/>
                <a:sym typeface="DM Serif Display"/>
              </a:rPr>
              <a:t>Establish trust and credibility as an AMFI-registered mutual fund distributor.</a:t>
            </a:r>
          </a:p>
          <a:p>
            <a:pPr algn="l" marL="690881" indent="-345440" lvl="1">
              <a:lnSpc>
                <a:spcPts val="7744"/>
              </a:lnSpc>
              <a:buFont typeface="Arial"/>
              <a:buChar char="•"/>
            </a:pPr>
            <a:r>
              <a:rPr lang="en-US" sz="3200">
                <a:solidFill>
                  <a:srgbClr val="000000"/>
                </a:solidFill>
                <a:latin typeface="DM Serif Display"/>
                <a:ea typeface="DM Serif Display"/>
                <a:cs typeface="DM Serif Display"/>
                <a:sym typeface="DM Serif Display"/>
              </a:rPr>
              <a:t> Generate client inquiries and investment consultations effectively.</a:t>
            </a:r>
          </a:p>
          <a:p>
            <a:pPr algn="l" marL="690881" indent="-345440" lvl="1">
              <a:lnSpc>
                <a:spcPts val="7744"/>
              </a:lnSpc>
              <a:buFont typeface="Arial"/>
              <a:buChar char="•"/>
            </a:pPr>
            <a:r>
              <a:rPr lang="en-US" sz="3200">
                <a:solidFill>
                  <a:srgbClr val="000000"/>
                </a:solidFill>
                <a:latin typeface="DM Serif Display"/>
                <a:ea typeface="DM Serif Display"/>
                <a:cs typeface="DM Serif Display"/>
                <a:sym typeface="DM Serif Display"/>
              </a:rPr>
              <a:t> Educate visitors about mutual funds and guide them toward informed. </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Freeform 3" id="3"/>
          <p:cNvSpPr/>
          <p:nvPr/>
        </p:nvSpPr>
        <p:spPr>
          <a:xfrm flipH="false" flipV="false" rot="0">
            <a:off x="-848571" y="9138258"/>
            <a:ext cx="3870946" cy="950141"/>
          </a:xfrm>
          <a:custGeom>
            <a:avLst/>
            <a:gdLst/>
            <a:ahLst/>
            <a:cxnLst/>
            <a:rect r="r" b="b" t="t" l="l"/>
            <a:pathLst>
              <a:path h="950141" w="3870946">
                <a:moveTo>
                  <a:pt x="0" y="0"/>
                </a:moveTo>
                <a:lnTo>
                  <a:pt x="3870946" y="0"/>
                </a:lnTo>
                <a:lnTo>
                  <a:pt x="3870946" y="950142"/>
                </a:lnTo>
                <a:lnTo>
                  <a:pt x="0" y="9501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072018" y="-1297499"/>
            <a:ext cx="4980952" cy="3731186"/>
          </a:xfrm>
          <a:custGeom>
            <a:avLst/>
            <a:gdLst/>
            <a:ahLst/>
            <a:cxnLst/>
            <a:rect r="r" b="b" t="t" l="l"/>
            <a:pathLst>
              <a:path h="3731186" w="4980952">
                <a:moveTo>
                  <a:pt x="0" y="0"/>
                </a:moveTo>
                <a:lnTo>
                  <a:pt x="4980952" y="0"/>
                </a:lnTo>
                <a:lnTo>
                  <a:pt x="4980952" y="3731186"/>
                </a:lnTo>
                <a:lnTo>
                  <a:pt x="0" y="37311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5" id="5"/>
          <p:cNvSpPr/>
          <p:nvPr/>
        </p:nvSpPr>
        <p:spPr>
          <a:xfrm flipH="false" flipV="false" rot="0">
            <a:off x="16170735" y="8420066"/>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6" id="6"/>
          <p:cNvSpPr/>
          <p:nvPr/>
        </p:nvSpPr>
        <p:spPr>
          <a:xfrm flipH="false" flipV="false" rot="0">
            <a:off x="-211761" y="0"/>
            <a:ext cx="2597326" cy="2796583"/>
          </a:xfrm>
          <a:custGeom>
            <a:avLst/>
            <a:gdLst/>
            <a:ahLst/>
            <a:cxnLst/>
            <a:rect r="r" b="b" t="t" l="l"/>
            <a:pathLst>
              <a:path h="2796583" w="2597326">
                <a:moveTo>
                  <a:pt x="0" y="0"/>
                </a:moveTo>
                <a:lnTo>
                  <a:pt x="2597326" y="0"/>
                </a:lnTo>
                <a:lnTo>
                  <a:pt x="2597326" y="2796583"/>
                </a:lnTo>
                <a:lnTo>
                  <a:pt x="0" y="279658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TextBox 7" id="7"/>
          <p:cNvSpPr txBox="true"/>
          <p:nvPr/>
        </p:nvSpPr>
        <p:spPr>
          <a:xfrm rot="0">
            <a:off x="3549890" y="2767062"/>
            <a:ext cx="11938916" cy="4172052"/>
          </a:xfrm>
          <a:prstGeom prst="rect">
            <a:avLst/>
          </a:prstGeom>
        </p:spPr>
        <p:txBody>
          <a:bodyPr anchor="t" rtlCol="false" tIns="0" lIns="0" bIns="0" rIns="0">
            <a:spAutoFit/>
          </a:bodyPr>
          <a:lstStyle/>
          <a:p>
            <a:pPr algn="ctr">
              <a:lnSpc>
                <a:spcPts val="16087"/>
              </a:lnSpc>
            </a:pPr>
            <a:r>
              <a:rPr lang="en-US" sz="16250">
                <a:solidFill>
                  <a:srgbClr val="000000"/>
                </a:solidFill>
                <a:latin typeface="DM Serif Display"/>
                <a:ea typeface="DM Serif Display"/>
                <a:cs typeface="DM Serif Display"/>
                <a:sym typeface="DM Serif Display"/>
              </a:rPr>
              <a:t>WIREFRAME </a:t>
            </a:r>
          </a:p>
          <a:p>
            <a:pPr algn="ctr">
              <a:lnSpc>
                <a:spcPts val="16087"/>
              </a:lnSpc>
            </a:pPr>
            <a:r>
              <a:rPr lang="en-US" sz="16250">
                <a:solidFill>
                  <a:srgbClr val="000000"/>
                </a:solidFill>
                <a:latin typeface="DM Serif Display"/>
                <a:ea typeface="DM Serif Display"/>
                <a:cs typeface="DM Serif Display"/>
                <a:sym typeface="DM Serif Display"/>
              </a:rPr>
              <a:t>DESIGNS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Freeform 3" id="3"/>
          <p:cNvSpPr/>
          <p:nvPr/>
        </p:nvSpPr>
        <p:spPr>
          <a:xfrm flipH="false" flipV="false" rot="0">
            <a:off x="-848571" y="9138258"/>
            <a:ext cx="3870946" cy="950141"/>
          </a:xfrm>
          <a:custGeom>
            <a:avLst/>
            <a:gdLst/>
            <a:ahLst/>
            <a:cxnLst/>
            <a:rect r="r" b="b" t="t" l="l"/>
            <a:pathLst>
              <a:path h="950141" w="3870946">
                <a:moveTo>
                  <a:pt x="0" y="0"/>
                </a:moveTo>
                <a:lnTo>
                  <a:pt x="3870946" y="0"/>
                </a:lnTo>
                <a:lnTo>
                  <a:pt x="3870946" y="950142"/>
                </a:lnTo>
                <a:lnTo>
                  <a:pt x="0" y="9501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768824" y="-2221340"/>
            <a:ext cx="4980952" cy="3731186"/>
          </a:xfrm>
          <a:custGeom>
            <a:avLst/>
            <a:gdLst/>
            <a:ahLst/>
            <a:cxnLst/>
            <a:rect r="r" b="b" t="t" l="l"/>
            <a:pathLst>
              <a:path h="3731186" w="4980952">
                <a:moveTo>
                  <a:pt x="0" y="0"/>
                </a:moveTo>
                <a:lnTo>
                  <a:pt x="4980952" y="0"/>
                </a:lnTo>
                <a:lnTo>
                  <a:pt x="4980952" y="3731185"/>
                </a:lnTo>
                <a:lnTo>
                  <a:pt x="0" y="37311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5" id="5"/>
          <p:cNvSpPr/>
          <p:nvPr/>
        </p:nvSpPr>
        <p:spPr>
          <a:xfrm flipH="false" flipV="false" rot="0">
            <a:off x="16170735" y="8420066"/>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6" id="6"/>
          <p:cNvSpPr/>
          <p:nvPr/>
        </p:nvSpPr>
        <p:spPr>
          <a:xfrm flipH="false" flipV="false" rot="0">
            <a:off x="-1035727" y="-830198"/>
            <a:ext cx="2597326" cy="2796583"/>
          </a:xfrm>
          <a:custGeom>
            <a:avLst/>
            <a:gdLst/>
            <a:ahLst/>
            <a:cxnLst/>
            <a:rect r="r" b="b" t="t" l="l"/>
            <a:pathLst>
              <a:path h="2796583" w="2597326">
                <a:moveTo>
                  <a:pt x="0" y="0"/>
                </a:moveTo>
                <a:lnTo>
                  <a:pt x="2597326" y="0"/>
                </a:lnTo>
                <a:lnTo>
                  <a:pt x="2597326" y="2796583"/>
                </a:lnTo>
                <a:lnTo>
                  <a:pt x="0" y="279658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7" id="7"/>
          <p:cNvSpPr/>
          <p:nvPr/>
        </p:nvSpPr>
        <p:spPr>
          <a:xfrm flipH="false" flipV="false" rot="0">
            <a:off x="1246268" y="2212631"/>
            <a:ext cx="7268855" cy="7045669"/>
          </a:xfrm>
          <a:custGeom>
            <a:avLst/>
            <a:gdLst/>
            <a:ahLst/>
            <a:cxnLst/>
            <a:rect r="r" b="b" t="t" l="l"/>
            <a:pathLst>
              <a:path h="7045669" w="7268855">
                <a:moveTo>
                  <a:pt x="0" y="0"/>
                </a:moveTo>
                <a:lnTo>
                  <a:pt x="7268854" y="0"/>
                </a:lnTo>
                <a:lnTo>
                  <a:pt x="7268854" y="7045669"/>
                </a:lnTo>
                <a:lnTo>
                  <a:pt x="0" y="7045669"/>
                </a:lnTo>
                <a:lnTo>
                  <a:pt x="0" y="0"/>
                </a:lnTo>
                <a:close/>
              </a:path>
            </a:pathLst>
          </a:custGeom>
          <a:blipFill>
            <a:blip r:embed="rId11"/>
            <a:stretch>
              <a:fillRect l="0" t="-4014" r="0" b="-4014"/>
            </a:stretch>
          </a:blipFill>
        </p:spPr>
      </p:sp>
      <p:sp>
        <p:nvSpPr>
          <p:cNvPr name="Freeform 8" id="8"/>
          <p:cNvSpPr/>
          <p:nvPr/>
        </p:nvSpPr>
        <p:spPr>
          <a:xfrm flipH="false" flipV="false" rot="0">
            <a:off x="9726598" y="2213519"/>
            <a:ext cx="7161150" cy="7044781"/>
          </a:xfrm>
          <a:custGeom>
            <a:avLst/>
            <a:gdLst/>
            <a:ahLst/>
            <a:cxnLst/>
            <a:rect r="r" b="b" t="t" l="l"/>
            <a:pathLst>
              <a:path h="7044781" w="7161150">
                <a:moveTo>
                  <a:pt x="0" y="0"/>
                </a:moveTo>
                <a:lnTo>
                  <a:pt x="7161150" y="0"/>
                </a:lnTo>
                <a:lnTo>
                  <a:pt x="7161150" y="7044781"/>
                </a:lnTo>
                <a:lnTo>
                  <a:pt x="0" y="7044781"/>
                </a:lnTo>
                <a:lnTo>
                  <a:pt x="0" y="0"/>
                </a:lnTo>
                <a:close/>
              </a:path>
            </a:pathLst>
          </a:custGeom>
          <a:blipFill>
            <a:blip r:embed="rId12"/>
            <a:stretch>
              <a:fillRect l="0" t="0" r="0" b="0"/>
            </a:stretch>
          </a:blipFill>
        </p:spPr>
      </p:sp>
      <p:sp>
        <p:nvSpPr>
          <p:cNvPr name="TextBox 9" id="9"/>
          <p:cNvSpPr txBox="true"/>
          <p:nvPr/>
        </p:nvSpPr>
        <p:spPr>
          <a:xfrm rot="0">
            <a:off x="1246268" y="406169"/>
            <a:ext cx="5661303" cy="1533525"/>
          </a:xfrm>
          <a:prstGeom prst="rect">
            <a:avLst/>
          </a:prstGeom>
        </p:spPr>
        <p:txBody>
          <a:bodyPr anchor="t" rtlCol="false" tIns="0" lIns="0" bIns="0" rIns="0">
            <a:spAutoFit/>
          </a:bodyPr>
          <a:lstStyle/>
          <a:p>
            <a:pPr algn="ctr">
              <a:lnSpc>
                <a:spcPts val="12599"/>
              </a:lnSpc>
              <a:spcBef>
                <a:spcPct val="0"/>
              </a:spcBef>
            </a:pPr>
            <a:r>
              <a:rPr lang="en-US" sz="9000">
                <a:solidFill>
                  <a:srgbClr val="000000"/>
                </a:solidFill>
                <a:latin typeface="DM Serif Display"/>
                <a:ea typeface="DM Serif Display"/>
                <a:cs typeface="DM Serif Display"/>
                <a:sym typeface="DM Serif Display"/>
              </a:rPr>
              <a:t>Home Page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Freeform 3" id="3"/>
          <p:cNvSpPr/>
          <p:nvPr/>
        </p:nvSpPr>
        <p:spPr>
          <a:xfrm flipH="false" flipV="false" rot="0">
            <a:off x="-1485381" y="9613329"/>
            <a:ext cx="3870946" cy="950141"/>
          </a:xfrm>
          <a:custGeom>
            <a:avLst/>
            <a:gdLst/>
            <a:ahLst/>
            <a:cxnLst/>
            <a:rect r="r" b="b" t="t" l="l"/>
            <a:pathLst>
              <a:path h="950141" w="3870946">
                <a:moveTo>
                  <a:pt x="0" y="0"/>
                </a:moveTo>
                <a:lnTo>
                  <a:pt x="3870946" y="0"/>
                </a:lnTo>
                <a:lnTo>
                  <a:pt x="3870946" y="950141"/>
                </a:lnTo>
                <a:lnTo>
                  <a:pt x="0" y="95014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768824" y="-2221340"/>
            <a:ext cx="4980952" cy="3731186"/>
          </a:xfrm>
          <a:custGeom>
            <a:avLst/>
            <a:gdLst/>
            <a:ahLst/>
            <a:cxnLst/>
            <a:rect r="r" b="b" t="t" l="l"/>
            <a:pathLst>
              <a:path h="3731186" w="4980952">
                <a:moveTo>
                  <a:pt x="0" y="0"/>
                </a:moveTo>
                <a:lnTo>
                  <a:pt x="4980952" y="0"/>
                </a:lnTo>
                <a:lnTo>
                  <a:pt x="4980952" y="3731185"/>
                </a:lnTo>
                <a:lnTo>
                  <a:pt x="0" y="37311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5" id="5"/>
          <p:cNvSpPr/>
          <p:nvPr/>
        </p:nvSpPr>
        <p:spPr>
          <a:xfrm flipH="false" flipV="false" rot="0">
            <a:off x="16170735" y="8420066"/>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6" id="6"/>
          <p:cNvSpPr/>
          <p:nvPr/>
        </p:nvSpPr>
        <p:spPr>
          <a:xfrm flipH="false" flipV="false" rot="0">
            <a:off x="-848571" y="1503771"/>
            <a:ext cx="2597326" cy="2796583"/>
          </a:xfrm>
          <a:custGeom>
            <a:avLst/>
            <a:gdLst/>
            <a:ahLst/>
            <a:cxnLst/>
            <a:rect r="r" b="b" t="t" l="l"/>
            <a:pathLst>
              <a:path h="2796583" w="2597326">
                <a:moveTo>
                  <a:pt x="0" y="0"/>
                </a:moveTo>
                <a:lnTo>
                  <a:pt x="2597327" y="0"/>
                </a:lnTo>
                <a:lnTo>
                  <a:pt x="2597327" y="2796583"/>
                </a:lnTo>
                <a:lnTo>
                  <a:pt x="0" y="279658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7" id="7"/>
          <p:cNvSpPr/>
          <p:nvPr/>
        </p:nvSpPr>
        <p:spPr>
          <a:xfrm flipH="false" flipV="false" rot="0">
            <a:off x="1381384" y="1838165"/>
            <a:ext cx="7762616" cy="7420135"/>
          </a:xfrm>
          <a:custGeom>
            <a:avLst/>
            <a:gdLst/>
            <a:ahLst/>
            <a:cxnLst/>
            <a:rect r="r" b="b" t="t" l="l"/>
            <a:pathLst>
              <a:path h="7420135" w="7762616">
                <a:moveTo>
                  <a:pt x="0" y="0"/>
                </a:moveTo>
                <a:lnTo>
                  <a:pt x="7762616" y="0"/>
                </a:lnTo>
                <a:lnTo>
                  <a:pt x="7762616" y="7420135"/>
                </a:lnTo>
                <a:lnTo>
                  <a:pt x="0" y="7420135"/>
                </a:lnTo>
                <a:lnTo>
                  <a:pt x="0" y="0"/>
                </a:lnTo>
                <a:close/>
              </a:path>
            </a:pathLst>
          </a:custGeom>
          <a:blipFill>
            <a:blip r:embed="rId11"/>
            <a:stretch>
              <a:fillRect l="-2221" t="0" r="-2221" b="-9264"/>
            </a:stretch>
          </a:blipFill>
        </p:spPr>
      </p:sp>
      <p:sp>
        <p:nvSpPr>
          <p:cNvPr name="Freeform 8" id="8"/>
          <p:cNvSpPr/>
          <p:nvPr/>
        </p:nvSpPr>
        <p:spPr>
          <a:xfrm flipH="false" flipV="false" rot="0">
            <a:off x="9725250" y="2902062"/>
            <a:ext cx="7930000" cy="5602001"/>
          </a:xfrm>
          <a:custGeom>
            <a:avLst/>
            <a:gdLst/>
            <a:ahLst/>
            <a:cxnLst/>
            <a:rect r="r" b="b" t="t" l="l"/>
            <a:pathLst>
              <a:path h="5602001" w="7930000">
                <a:moveTo>
                  <a:pt x="0" y="0"/>
                </a:moveTo>
                <a:lnTo>
                  <a:pt x="7930001" y="0"/>
                </a:lnTo>
                <a:lnTo>
                  <a:pt x="7930001" y="5602001"/>
                </a:lnTo>
                <a:lnTo>
                  <a:pt x="0" y="5602001"/>
                </a:lnTo>
                <a:lnTo>
                  <a:pt x="0" y="0"/>
                </a:lnTo>
                <a:close/>
              </a:path>
            </a:pathLst>
          </a:custGeom>
          <a:blipFill>
            <a:blip r:embed="rId12"/>
            <a:stretch>
              <a:fillRect l="-4714" t="-5527" r="-4714" b="0"/>
            </a:stretch>
          </a:blipFill>
        </p:spPr>
      </p:sp>
      <p:sp>
        <p:nvSpPr>
          <p:cNvPr name="TextBox 9" id="9"/>
          <p:cNvSpPr txBox="true"/>
          <p:nvPr/>
        </p:nvSpPr>
        <p:spPr>
          <a:xfrm rot="0">
            <a:off x="450092" y="180975"/>
            <a:ext cx="6920865" cy="1533525"/>
          </a:xfrm>
          <a:prstGeom prst="rect">
            <a:avLst/>
          </a:prstGeom>
        </p:spPr>
        <p:txBody>
          <a:bodyPr anchor="t" rtlCol="false" tIns="0" lIns="0" bIns="0" rIns="0">
            <a:spAutoFit/>
          </a:bodyPr>
          <a:lstStyle/>
          <a:p>
            <a:pPr algn="ctr">
              <a:lnSpc>
                <a:spcPts val="12599"/>
              </a:lnSpc>
              <a:spcBef>
                <a:spcPct val="0"/>
              </a:spcBef>
            </a:pPr>
            <a:r>
              <a:rPr lang="en-US" sz="9000">
                <a:solidFill>
                  <a:srgbClr val="000000"/>
                </a:solidFill>
                <a:latin typeface="DM Serif Display"/>
                <a:ea typeface="DM Serif Display"/>
                <a:cs typeface="DM Serif Display"/>
                <a:sym typeface="DM Serif Display"/>
              </a:rPr>
              <a:t>Services Page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Freeform 3" id="3"/>
          <p:cNvSpPr/>
          <p:nvPr/>
        </p:nvSpPr>
        <p:spPr>
          <a:xfrm flipH="false" flipV="false" rot="0">
            <a:off x="-848571" y="9138258"/>
            <a:ext cx="3870946" cy="950141"/>
          </a:xfrm>
          <a:custGeom>
            <a:avLst/>
            <a:gdLst/>
            <a:ahLst/>
            <a:cxnLst/>
            <a:rect r="r" b="b" t="t" l="l"/>
            <a:pathLst>
              <a:path h="950141" w="3870946">
                <a:moveTo>
                  <a:pt x="0" y="0"/>
                </a:moveTo>
                <a:lnTo>
                  <a:pt x="3870946" y="0"/>
                </a:lnTo>
                <a:lnTo>
                  <a:pt x="3870946" y="950142"/>
                </a:lnTo>
                <a:lnTo>
                  <a:pt x="0" y="9501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768824" y="-2221340"/>
            <a:ext cx="4980952" cy="3731186"/>
          </a:xfrm>
          <a:custGeom>
            <a:avLst/>
            <a:gdLst/>
            <a:ahLst/>
            <a:cxnLst/>
            <a:rect r="r" b="b" t="t" l="l"/>
            <a:pathLst>
              <a:path h="3731186" w="4980952">
                <a:moveTo>
                  <a:pt x="0" y="0"/>
                </a:moveTo>
                <a:lnTo>
                  <a:pt x="4980952" y="0"/>
                </a:lnTo>
                <a:lnTo>
                  <a:pt x="4980952" y="3731185"/>
                </a:lnTo>
                <a:lnTo>
                  <a:pt x="0" y="37311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5" id="5"/>
          <p:cNvSpPr/>
          <p:nvPr/>
        </p:nvSpPr>
        <p:spPr>
          <a:xfrm flipH="false" flipV="false" rot="0">
            <a:off x="16170735" y="8420066"/>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6" id="6"/>
          <p:cNvSpPr/>
          <p:nvPr/>
        </p:nvSpPr>
        <p:spPr>
          <a:xfrm flipH="false" flipV="false" rot="0">
            <a:off x="-1035727" y="-830198"/>
            <a:ext cx="2597326" cy="2796583"/>
          </a:xfrm>
          <a:custGeom>
            <a:avLst/>
            <a:gdLst/>
            <a:ahLst/>
            <a:cxnLst/>
            <a:rect r="r" b="b" t="t" l="l"/>
            <a:pathLst>
              <a:path h="2796583" w="2597326">
                <a:moveTo>
                  <a:pt x="0" y="0"/>
                </a:moveTo>
                <a:lnTo>
                  <a:pt x="2597326" y="0"/>
                </a:lnTo>
                <a:lnTo>
                  <a:pt x="2597326" y="2796583"/>
                </a:lnTo>
                <a:lnTo>
                  <a:pt x="0" y="279658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7" id="7"/>
          <p:cNvSpPr/>
          <p:nvPr/>
        </p:nvSpPr>
        <p:spPr>
          <a:xfrm flipH="false" flipV="false" rot="0">
            <a:off x="9379833" y="2205451"/>
            <a:ext cx="8372669" cy="6702066"/>
          </a:xfrm>
          <a:custGeom>
            <a:avLst/>
            <a:gdLst/>
            <a:ahLst/>
            <a:cxnLst/>
            <a:rect r="r" b="b" t="t" l="l"/>
            <a:pathLst>
              <a:path h="6702066" w="8372669">
                <a:moveTo>
                  <a:pt x="0" y="0"/>
                </a:moveTo>
                <a:lnTo>
                  <a:pt x="8372669" y="0"/>
                </a:lnTo>
                <a:lnTo>
                  <a:pt x="8372669" y="6702066"/>
                </a:lnTo>
                <a:lnTo>
                  <a:pt x="0" y="6702066"/>
                </a:lnTo>
                <a:lnTo>
                  <a:pt x="0" y="0"/>
                </a:lnTo>
                <a:close/>
              </a:path>
            </a:pathLst>
          </a:custGeom>
          <a:blipFill>
            <a:blip r:embed="rId11"/>
            <a:stretch>
              <a:fillRect l="0" t="0" r="0" b="0"/>
            </a:stretch>
          </a:blipFill>
        </p:spPr>
      </p:sp>
      <p:sp>
        <p:nvSpPr>
          <p:cNvPr name="Freeform 8" id="8"/>
          <p:cNvSpPr/>
          <p:nvPr/>
        </p:nvSpPr>
        <p:spPr>
          <a:xfrm flipH="false" flipV="false" rot="0">
            <a:off x="1561599" y="2205451"/>
            <a:ext cx="7110946" cy="6702066"/>
          </a:xfrm>
          <a:custGeom>
            <a:avLst/>
            <a:gdLst/>
            <a:ahLst/>
            <a:cxnLst/>
            <a:rect r="r" b="b" t="t" l="l"/>
            <a:pathLst>
              <a:path h="6702066" w="7110946">
                <a:moveTo>
                  <a:pt x="0" y="0"/>
                </a:moveTo>
                <a:lnTo>
                  <a:pt x="7110945" y="0"/>
                </a:lnTo>
                <a:lnTo>
                  <a:pt x="7110945" y="6702066"/>
                </a:lnTo>
                <a:lnTo>
                  <a:pt x="0" y="6702066"/>
                </a:lnTo>
                <a:lnTo>
                  <a:pt x="0" y="0"/>
                </a:lnTo>
                <a:close/>
              </a:path>
            </a:pathLst>
          </a:custGeom>
          <a:blipFill>
            <a:blip r:embed="rId12"/>
            <a:stretch>
              <a:fillRect l="0" t="0" r="0" b="0"/>
            </a:stretch>
          </a:blipFill>
        </p:spPr>
      </p:sp>
      <p:sp>
        <p:nvSpPr>
          <p:cNvPr name="TextBox 9" id="9"/>
          <p:cNvSpPr txBox="true"/>
          <p:nvPr/>
        </p:nvSpPr>
        <p:spPr>
          <a:xfrm rot="0">
            <a:off x="636686" y="210906"/>
            <a:ext cx="6581144" cy="1473664"/>
          </a:xfrm>
          <a:prstGeom prst="rect">
            <a:avLst/>
          </a:prstGeom>
        </p:spPr>
        <p:txBody>
          <a:bodyPr anchor="t" rtlCol="false" tIns="0" lIns="0" bIns="0" rIns="0">
            <a:spAutoFit/>
          </a:bodyPr>
          <a:lstStyle/>
          <a:p>
            <a:pPr algn="ctr">
              <a:lnSpc>
                <a:spcPts val="12050"/>
              </a:lnSpc>
              <a:spcBef>
                <a:spcPct val="0"/>
              </a:spcBef>
            </a:pPr>
            <a:r>
              <a:rPr lang="en-US" sz="8607">
                <a:solidFill>
                  <a:srgbClr val="000000"/>
                </a:solidFill>
                <a:latin typeface="DM Serif Display"/>
                <a:ea typeface="DM Serif Display"/>
                <a:cs typeface="DM Serif Display"/>
                <a:sym typeface="DM Serif Display"/>
              </a:rPr>
              <a:t>About Page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Freeform 3" id="3"/>
          <p:cNvSpPr/>
          <p:nvPr/>
        </p:nvSpPr>
        <p:spPr>
          <a:xfrm flipH="false" flipV="false" rot="0">
            <a:off x="-848571" y="9138258"/>
            <a:ext cx="3870946" cy="950141"/>
          </a:xfrm>
          <a:custGeom>
            <a:avLst/>
            <a:gdLst/>
            <a:ahLst/>
            <a:cxnLst/>
            <a:rect r="r" b="b" t="t" l="l"/>
            <a:pathLst>
              <a:path h="950141" w="3870946">
                <a:moveTo>
                  <a:pt x="0" y="0"/>
                </a:moveTo>
                <a:lnTo>
                  <a:pt x="3870946" y="0"/>
                </a:lnTo>
                <a:lnTo>
                  <a:pt x="3870946" y="950142"/>
                </a:lnTo>
                <a:lnTo>
                  <a:pt x="0" y="9501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768824" y="-2221340"/>
            <a:ext cx="4980952" cy="3731186"/>
          </a:xfrm>
          <a:custGeom>
            <a:avLst/>
            <a:gdLst/>
            <a:ahLst/>
            <a:cxnLst/>
            <a:rect r="r" b="b" t="t" l="l"/>
            <a:pathLst>
              <a:path h="3731186" w="4980952">
                <a:moveTo>
                  <a:pt x="0" y="0"/>
                </a:moveTo>
                <a:lnTo>
                  <a:pt x="4980952" y="0"/>
                </a:lnTo>
                <a:lnTo>
                  <a:pt x="4980952" y="3731185"/>
                </a:lnTo>
                <a:lnTo>
                  <a:pt x="0" y="37311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5" id="5"/>
          <p:cNvSpPr/>
          <p:nvPr/>
        </p:nvSpPr>
        <p:spPr>
          <a:xfrm flipH="false" flipV="false" rot="0">
            <a:off x="16170735" y="8420066"/>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6" id="6"/>
          <p:cNvSpPr/>
          <p:nvPr/>
        </p:nvSpPr>
        <p:spPr>
          <a:xfrm flipH="false" flipV="false" rot="0">
            <a:off x="-1035727" y="-830198"/>
            <a:ext cx="2597326" cy="2796583"/>
          </a:xfrm>
          <a:custGeom>
            <a:avLst/>
            <a:gdLst/>
            <a:ahLst/>
            <a:cxnLst/>
            <a:rect r="r" b="b" t="t" l="l"/>
            <a:pathLst>
              <a:path h="2796583" w="2597326">
                <a:moveTo>
                  <a:pt x="0" y="0"/>
                </a:moveTo>
                <a:lnTo>
                  <a:pt x="2597326" y="0"/>
                </a:lnTo>
                <a:lnTo>
                  <a:pt x="2597326" y="2796583"/>
                </a:lnTo>
                <a:lnTo>
                  <a:pt x="0" y="279658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7" id="7"/>
          <p:cNvSpPr/>
          <p:nvPr/>
        </p:nvSpPr>
        <p:spPr>
          <a:xfrm flipH="false" flipV="false" rot="0">
            <a:off x="6373384" y="1966385"/>
            <a:ext cx="5991433" cy="6885020"/>
          </a:xfrm>
          <a:custGeom>
            <a:avLst/>
            <a:gdLst/>
            <a:ahLst/>
            <a:cxnLst/>
            <a:rect r="r" b="b" t="t" l="l"/>
            <a:pathLst>
              <a:path h="6885020" w="5991433">
                <a:moveTo>
                  <a:pt x="0" y="0"/>
                </a:moveTo>
                <a:lnTo>
                  <a:pt x="5991433" y="0"/>
                </a:lnTo>
                <a:lnTo>
                  <a:pt x="5991433" y="6885020"/>
                </a:lnTo>
                <a:lnTo>
                  <a:pt x="0" y="6885020"/>
                </a:lnTo>
                <a:lnTo>
                  <a:pt x="0" y="0"/>
                </a:lnTo>
                <a:close/>
              </a:path>
            </a:pathLst>
          </a:custGeom>
          <a:blipFill>
            <a:blip r:embed="rId11"/>
            <a:stretch>
              <a:fillRect l="-4153" t="0" r="-4153" b="0"/>
            </a:stretch>
          </a:blipFill>
        </p:spPr>
      </p:sp>
      <p:sp>
        <p:nvSpPr>
          <p:cNvPr name="TextBox 8" id="8"/>
          <p:cNvSpPr txBox="true"/>
          <p:nvPr/>
        </p:nvSpPr>
        <p:spPr>
          <a:xfrm rot="0">
            <a:off x="636686" y="210906"/>
            <a:ext cx="9124778" cy="1473664"/>
          </a:xfrm>
          <a:prstGeom prst="rect">
            <a:avLst/>
          </a:prstGeom>
        </p:spPr>
        <p:txBody>
          <a:bodyPr anchor="t" rtlCol="false" tIns="0" lIns="0" bIns="0" rIns="0">
            <a:spAutoFit/>
          </a:bodyPr>
          <a:lstStyle/>
          <a:p>
            <a:pPr algn="ctr">
              <a:lnSpc>
                <a:spcPts val="12050"/>
              </a:lnSpc>
              <a:spcBef>
                <a:spcPct val="0"/>
              </a:spcBef>
            </a:pPr>
            <a:r>
              <a:rPr lang="en-US" sz="8607">
                <a:solidFill>
                  <a:srgbClr val="000000"/>
                </a:solidFill>
                <a:latin typeface="DM Serif Display"/>
                <a:ea typeface="DM Serif Display"/>
                <a:cs typeface="DM Serif Display"/>
                <a:sym typeface="DM Serif Display"/>
              </a:rPr>
              <a:t>Tools/ Calculator</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Freeform 3" id="3"/>
          <p:cNvSpPr/>
          <p:nvPr/>
        </p:nvSpPr>
        <p:spPr>
          <a:xfrm flipH="false" flipV="false" rot="0">
            <a:off x="-848571" y="9138258"/>
            <a:ext cx="3870946" cy="950141"/>
          </a:xfrm>
          <a:custGeom>
            <a:avLst/>
            <a:gdLst/>
            <a:ahLst/>
            <a:cxnLst/>
            <a:rect r="r" b="b" t="t" l="l"/>
            <a:pathLst>
              <a:path h="950141" w="3870946">
                <a:moveTo>
                  <a:pt x="0" y="0"/>
                </a:moveTo>
                <a:lnTo>
                  <a:pt x="3870946" y="0"/>
                </a:lnTo>
                <a:lnTo>
                  <a:pt x="3870946" y="950142"/>
                </a:lnTo>
                <a:lnTo>
                  <a:pt x="0" y="9501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768824" y="-2221340"/>
            <a:ext cx="4980952" cy="3731186"/>
          </a:xfrm>
          <a:custGeom>
            <a:avLst/>
            <a:gdLst/>
            <a:ahLst/>
            <a:cxnLst/>
            <a:rect r="r" b="b" t="t" l="l"/>
            <a:pathLst>
              <a:path h="3731186" w="4980952">
                <a:moveTo>
                  <a:pt x="0" y="0"/>
                </a:moveTo>
                <a:lnTo>
                  <a:pt x="4980952" y="0"/>
                </a:lnTo>
                <a:lnTo>
                  <a:pt x="4980952" y="3731185"/>
                </a:lnTo>
                <a:lnTo>
                  <a:pt x="0" y="373118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5" id="5"/>
          <p:cNvSpPr/>
          <p:nvPr/>
        </p:nvSpPr>
        <p:spPr>
          <a:xfrm flipH="false" flipV="false" rot="0">
            <a:off x="16170735" y="8420066"/>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6" id="6"/>
          <p:cNvSpPr/>
          <p:nvPr/>
        </p:nvSpPr>
        <p:spPr>
          <a:xfrm flipH="false" flipV="false" rot="0">
            <a:off x="-1035727" y="-830198"/>
            <a:ext cx="2597326" cy="2796583"/>
          </a:xfrm>
          <a:custGeom>
            <a:avLst/>
            <a:gdLst/>
            <a:ahLst/>
            <a:cxnLst/>
            <a:rect r="r" b="b" t="t" l="l"/>
            <a:pathLst>
              <a:path h="2796583" w="2597326">
                <a:moveTo>
                  <a:pt x="0" y="0"/>
                </a:moveTo>
                <a:lnTo>
                  <a:pt x="2597326" y="0"/>
                </a:lnTo>
                <a:lnTo>
                  <a:pt x="2597326" y="2796583"/>
                </a:lnTo>
                <a:lnTo>
                  <a:pt x="0" y="279658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7" id="7"/>
          <p:cNvSpPr/>
          <p:nvPr/>
        </p:nvSpPr>
        <p:spPr>
          <a:xfrm flipH="false" flipV="false" rot="0">
            <a:off x="262936" y="2683297"/>
            <a:ext cx="9290314" cy="5736769"/>
          </a:xfrm>
          <a:custGeom>
            <a:avLst/>
            <a:gdLst/>
            <a:ahLst/>
            <a:cxnLst/>
            <a:rect r="r" b="b" t="t" l="l"/>
            <a:pathLst>
              <a:path h="5736769" w="9290314">
                <a:moveTo>
                  <a:pt x="0" y="0"/>
                </a:moveTo>
                <a:lnTo>
                  <a:pt x="9290314" y="0"/>
                </a:lnTo>
                <a:lnTo>
                  <a:pt x="9290314" y="5736769"/>
                </a:lnTo>
                <a:lnTo>
                  <a:pt x="0" y="5736769"/>
                </a:lnTo>
                <a:lnTo>
                  <a:pt x="0" y="0"/>
                </a:lnTo>
                <a:close/>
              </a:path>
            </a:pathLst>
          </a:custGeom>
          <a:blipFill>
            <a:blip r:embed="rId11"/>
            <a:stretch>
              <a:fillRect l="0" t="0" r="0" b="0"/>
            </a:stretch>
          </a:blipFill>
        </p:spPr>
      </p:sp>
      <p:sp>
        <p:nvSpPr>
          <p:cNvPr name="Freeform 8" id="8"/>
          <p:cNvSpPr/>
          <p:nvPr/>
        </p:nvSpPr>
        <p:spPr>
          <a:xfrm flipH="false" flipV="false" rot="0">
            <a:off x="9851609" y="2863502"/>
            <a:ext cx="7930979" cy="5758372"/>
          </a:xfrm>
          <a:custGeom>
            <a:avLst/>
            <a:gdLst/>
            <a:ahLst/>
            <a:cxnLst/>
            <a:rect r="r" b="b" t="t" l="l"/>
            <a:pathLst>
              <a:path h="5758372" w="7930979">
                <a:moveTo>
                  <a:pt x="0" y="0"/>
                </a:moveTo>
                <a:lnTo>
                  <a:pt x="7930979" y="0"/>
                </a:lnTo>
                <a:lnTo>
                  <a:pt x="7930979" y="5758371"/>
                </a:lnTo>
                <a:lnTo>
                  <a:pt x="0" y="5758371"/>
                </a:lnTo>
                <a:lnTo>
                  <a:pt x="0" y="0"/>
                </a:lnTo>
                <a:close/>
              </a:path>
            </a:pathLst>
          </a:custGeom>
          <a:blipFill>
            <a:blip r:embed="rId12"/>
            <a:stretch>
              <a:fillRect l="-31461" t="0" r="-32158" b="0"/>
            </a:stretch>
          </a:blipFill>
        </p:spPr>
      </p:sp>
      <p:sp>
        <p:nvSpPr>
          <p:cNvPr name="TextBox 9" id="9"/>
          <p:cNvSpPr txBox="true"/>
          <p:nvPr/>
        </p:nvSpPr>
        <p:spPr>
          <a:xfrm rot="0">
            <a:off x="1026319" y="180975"/>
            <a:ext cx="8117681" cy="1533525"/>
          </a:xfrm>
          <a:prstGeom prst="rect">
            <a:avLst/>
          </a:prstGeom>
        </p:spPr>
        <p:txBody>
          <a:bodyPr anchor="t" rtlCol="false" tIns="0" lIns="0" bIns="0" rIns="0">
            <a:spAutoFit/>
          </a:bodyPr>
          <a:lstStyle/>
          <a:p>
            <a:pPr algn="ctr">
              <a:lnSpc>
                <a:spcPts val="12599"/>
              </a:lnSpc>
              <a:spcBef>
                <a:spcPct val="0"/>
              </a:spcBef>
            </a:pPr>
            <a:r>
              <a:rPr lang="en-US" sz="9000">
                <a:solidFill>
                  <a:srgbClr val="000000"/>
                </a:solidFill>
                <a:latin typeface="DM Serif Display"/>
                <a:ea typeface="DM Serif Display"/>
                <a:cs typeface="DM Serif Display"/>
                <a:sym typeface="DM Serif Display"/>
              </a:rPr>
              <a:t>Contact Us Page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Freeform 3" id="3"/>
          <p:cNvSpPr/>
          <p:nvPr/>
        </p:nvSpPr>
        <p:spPr>
          <a:xfrm flipH="false" flipV="false" rot="0">
            <a:off x="-848571" y="9138258"/>
            <a:ext cx="3870946" cy="950141"/>
          </a:xfrm>
          <a:custGeom>
            <a:avLst/>
            <a:gdLst/>
            <a:ahLst/>
            <a:cxnLst/>
            <a:rect r="r" b="b" t="t" l="l"/>
            <a:pathLst>
              <a:path h="950141" w="3870946">
                <a:moveTo>
                  <a:pt x="0" y="0"/>
                </a:moveTo>
                <a:lnTo>
                  <a:pt x="3870946" y="0"/>
                </a:lnTo>
                <a:lnTo>
                  <a:pt x="3870946" y="950142"/>
                </a:lnTo>
                <a:lnTo>
                  <a:pt x="0" y="9501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260417" y="-2273980"/>
            <a:ext cx="4980952" cy="3731186"/>
          </a:xfrm>
          <a:custGeom>
            <a:avLst/>
            <a:gdLst/>
            <a:ahLst/>
            <a:cxnLst/>
            <a:rect r="r" b="b" t="t" l="l"/>
            <a:pathLst>
              <a:path h="3731186" w="4980952">
                <a:moveTo>
                  <a:pt x="0" y="0"/>
                </a:moveTo>
                <a:lnTo>
                  <a:pt x="4980952" y="0"/>
                </a:lnTo>
                <a:lnTo>
                  <a:pt x="4980952" y="3731186"/>
                </a:lnTo>
                <a:lnTo>
                  <a:pt x="0" y="37311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5" id="5"/>
          <p:cNvSpPr/>
          <p:nvPr/>
        </p:nvSpPr>
        <p:spPr>
          <a:xfrm flipH="false" flipV="false" rot="0">
            <a:off x="16170735" y="8420066"/>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6" id="6"/>
          <p:cNvSpPr/>
          <p:nvPr/>
        </p:nvSpPr>
        <p:spPr>
          <a:xfrm flipH="false" flipV="false" rot="0">
            <a:off x="-211761" y="0"/>
            <a:ext cx="2597326" cy="2796583"/>
          </a:xfrm>
          <a:custGeom>
            <a:avLst/>
            <a:gdLst/>
            <a:ahLst/>
            <a:cxnLst/>
            <a:rect r="r" b="b" t="t" l="l"/>
            <a:pathLst>
              <a:path h="2796583" w="2597326">
                <a:moveTo>
                  <a:pt x="0" y="0"/>
                </a:moveTo>
                <a:lnTo>
                  <a:pt x="2597326" y="0"/>
                </a:lnTo>
                <a:lnTo>
                  <a:pt x="2597326" y="2796583"/>
                </a:lnTo>
                <a:lnTo>
                  <a:pt x="0" y="279658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TextBox 7" id="7"/>
          <p:cNvSpPr txBox="true"/>
          <p:nvPr/>
        </p:nvSpPr>
        <p:spPr>
          <a:xfrm rot="0">
            <a:off x="3638740" y="1740389"/>
            <a:ext cx="11010521" cy="1533525"/>
          </a:xfrm>
          <a:prstGeom prst="rect">
            <a:avLst/>
          </a:prstGeom>
        </p:spPr>
        <p:txBody>
          <a:bodyPr anchor="t" rtlCol="false" tIns="0" lIns="0" bIns="0" rIns="0">
            <a:spAutoFit/>
          </a:bodyPr>
          <a:lstStyle/>
          <a:p>
            <a:pPr algn="ctr">
              <a:lnSpc>
                <a:spcPts val="12599"/>
              </a:lnSpc>
              <a:spcBef>
                <a:spcPct val="0"/>
              </a:spcBef>
            </a:pPr>
            <a:r>
              <a:rPr lang="en-US" sz="9000">
                <a:solidFill>
                  <a:srgbClr val="000000"/>
                </a:solidFill>
                <a:latin typeface="DM Serif Display"/>
                <a:ea typeface="DM Serif Display"/>
                <a:cs typeface="DM Serif Display"/>
                <a:sym typeface="DM Serif Display"/>
              </a:rPr>
              <a:t>TECHNOLOGIES USED</a:t>
            </a:r>
          </a:p>
        </p:txBody>
      </p:sp>
      <p:sp>
        <p:nvSpPr>
          <p:cNvPr name="TextBox 8" id="8"/>
          <p:cNvSpPr txBox="true"/>
          <p:nvPr/>
        </p:nvSpPr>
        <p:spPr>
          <a:xfrm rot="0">
            <a:off x="2279741" y="3578714"/>
            <a:ext cx="13728518" cy="3525402"/>
          </a:xfrm>
          <a:prstGeom prst="rect">
            <a:avLst/>
          </a:prstGeom>
        </p:spPr>
        <p:txBody>
          <a:bodyPr anchor="t" rtlCol="false" tIns="0" lIns="0" bIns="0" rIns="0">
            <a:spAutoFit/>
          </a:bodyPr>
          <a:lstStyle/>
          <a:p>
            <a:pPr algn="l" marL="748586" indent="-374293" lvl="1">
              <a:lnSpc>
                <a:spcPts val="5651"/>
              </a:lnSpc>
              <a:buFont typeface="Arial"/>
              <a:buChar char="•"/>
            </a:pPr>
            <a:r>
              <a:rPr lang="en-US" sz="3467">
                <a:solidFill>
                  <a:srgbClr val="000000"/>
                </a:solidFill>
                <a:latin typeface="DM Serif Display"/>
                <a:ea typeface="DM Serif Display"/>
                <a:cs typeface="DM Serif Display"/>
                <a:sym typeface="DM Serif Display"/>
              </a:rPr>
              <a:t>Frontend : HTML, CSS, JavaScript</a:t>
            </a:r>
          </a:p>
          <a:p>
            <a:pPr algn="l" marL="748586" indent="-374293" lvl="1">
              <a:lnSpc>
                <a:spcPts val="5651"/>
              </a:lnSpc>
              <a:buFont typeface="Arial"/>
              <a:buChar char="•"/>
            </a:pPr>
            <a:r>
              <a:rPr lang="en-US" sz="3467">
                <a:solidFill>
                  <a:srgbClr val="000000"/>
                </a:solidFill>
                <a:latin typeface="DM Serif Display"/>
                <a:ea typeface="DM Serif Display"/>
                <a:cs typeface="DM Serif Display"/>
                <a:sym typeface="DM Serif Display"/>
              </a:rPr>
              <a:t>Backend: PHP</a:t>
            </a:r>
          </a:p>
          <a:p>
            <a:pPr algn="l" marL="748586" indent="-374293" lvl="1">
              <a:lnSpc>
                <a:spcPts val="5651"/>
              </a:lnSpc>
              <a:buFont typeface="Arial"/>
              <a:buChar char="•"/>
            </a:pPr>
            <a:r>
              <a:rPr lang="en-US" sz="3467">
                <a:solidFill>
                  <a:srgbClr val="000000"/>
                </a:solidFill>
                <a:latin typeface="DM Serif Display"/>
                <a:ea typeface="DM Serif Display"/>
                <a:cs typeface="DM Serif Display"/>
                <a:sym typeface="DM Serif Display"/>
              </a:rPr>
              <a:t>Database: MySql</a:t>
            </a:r>
          </a:p>
          <a:p>
            <a:pPr algn="ctr">
              <a:lnSpc>
                <a:spcPts val="5651"/>
              </a:lnSpc>
            </a:pPr>
          </a:p>
          <a:p>
            <a:pPr algn="ctr">
              <a:lnSpc>
                <a:spcPts val="5651"/>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Freeform 3" id="3"/>
          <p:cNvSpPr/>
          <p:nvPr/>
        </p:nvSpPr>
        <p:spPr>
          <a:xfrm flipH="false" flipV="false" rot="0">
            <a:off x="-848571" y="9138258"/>
            <a:ext cx="3870946" cy="950141"/>
          </a:xfrm>
          <a:custGeom>
            <a:avLst/>
            <a:gdLst/>
            <a:ahLst/>
            <a:cxnLst/>
            <a:rect r="r" b="b" t="t" l="l"/>
            <a:pathLst>
              <a:path h="950141" w="3870946">
                <a:moveTo>
                  <a:pt x="0" y="0"/>
                </a:moveTo>
                <a:lnTo>
                  <a:pt x="3870946" y="0"/>
                </a:lnTo>
                <a:lnTo>
                  <a:pt x="3870946" y="950142"/>
                </a:lnTo>
                <a:lnTo>
                  <a:pt x="0" y="9501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260417" y="-2273980"/>
            <a:ext cx="4980952" cy="3731186"/>
          </a:xfrm>
          <a:custGeom>
            <a:avLst/>
            <a:gdLst/>
            <a:ahLst/>
            <a:cxnLst/>
            <a:rect r="r" b="b" t="t" l="l"/>
            <a:pathLst>
              <a:path h="3731186" w="4980952">
                <a:moveTo>
                  <a:pt x="0" y="0"/>
                </a:moveTo>
                <a:lnTo>
                  <a:pt x="4980952" y="0"/>
                </a:lnTo>
                <a:lnTo>
                  <a:pt x="4980952" y="3731186"/>
                </a:lnTo>
                <a:lnTo>
                  <a:pt x="0" y="37311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5" id="5"/>
          <p:cNvSpPr/>
          <p:nvPr/>
        </p:nvSpPr>
        <p:spPr>
          <a:xfrm flipH="false" flipV="false" rot="0">
            <a:off x="16170735" y="8420066"/>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6" id="6"/>
          <p:cNvSpPr/>
          <p:nvPr/>
        </p:nvSpPr>
        <p:spPr>
          <a:xfrm flipH="false" flipV="false" rot="0">
            <a:off x="-211761" y="0"/>
            <a:ext cx="2597326" cy="2796583"/>
          </a:xfrm>
          <a:custGeom>
            <a:avLst/>
            <a:gdLst/>
            <a:ahLst/>
            <a:cxnLst/>
            <a:rect r="r" b="b" t="t" l="l"/>
            <a:pathLst>
              <a:path h="2796583" w="2597326">
                <a:moveTo>
                  <a:pt x="0" y="0"/>
                </a:moveTo>
                <a:lnTo>
                  <a:pt x="2597326" y="0"/>
                </a:lnTo>
                <a:lnTo>
                  <a:pt x="2597326" y="2796583"/>
                </a:lnTo>
                <a:lnTo>
                  <a:pt x="0" y="279658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TextBox 7" id="7"/>
          <p:cNvSpPr txBox="true"/>
          <p:nvPr/>
        </p:nvSpPr>
        <p:spPr>
          <a:xfrm rot="0">
            <a:off x="5834441" y="1740389"/>
            <a:ext cx="6619117" cy="1533525"/>
          </a:xfrm>
          <a:prstGeom prst="rect">
            <a:avLst/>
          </a:prstGeom>
        </p:spPr>
        <p:txBody>
          <a:bodyPr anchor="t" rtlCol="false" tIns="0" lIns="0" bIns="0" rIns="0">
            <a:spAutoFit/>
          </a:bodyPr>
          <a:lstStyle/>
          <a:p>
            <a:pPr algn="ctr">
              <a:lnSpc>
                <a:spcPts val="12599"/>
              </a:lnSpc>
              <a:spcBef>
                <a:spcPct val="0"/>
              </a:spcBef>
            </a:pPr>
            <a:r>
              <a:rPr lang="en-US" sz="9000">
                <a:solidFill>
                  <a:srgbClr val="000000"/>
                </a:solidFill>
                <a:latin typeface="DM Serif Display"/>
                <a:ea typeface="DM Serif Display"/>
                <a:cs typeface="DM Serif Display"/>
                <a:sym typeface="DM Serif Display"/>
              </a:rPr>
              <a:t>REFERENCES</a:t>
            </a:r>
          </a:p>
        </p:txBody>
      </p:sp>
      <p:sp>
        <p:nvSpPr>
          <p:cNvPr name="TextBox 8" id="8"/>
          <p:cNvSpPr txBox="true"/>
          <p:nvPr/>
        </p:nvSpPr>
        <p:spPr>
          <a:xfrm rot="0">
            <a:off x="1244551" y="3470925"/>
            <a:ext cx="16934953" cy="3191175"/>
          </a:xfrm>
          <a:prstGeom prst="rect">
            <a:avLst/>
          </a:prstGeom>
        </p:spPr>
        <p:txBody>
          <a:bodyPr anchor="t" rtlCol="false" tIns="0" lIns="0" bIns="0" rIns="0">
            <a:spAutoFit/>
          </a:bodyPr>
          <a:lstStyle/>
          <a:p>
            <a:pPr algn="l" marL="750516" indent="-375258" lvl="1">
              <a:lnSpc>
                <a:spcPts val="7021"/>
              </a:lnSpc>
              <a:buFont typeface="Arial"/>
              <a:buChar char="•"/>
            </a:pPr>
            <a:r>
              <a:rPr lang="en-US" sz="3476">
                <a:solidFill>
                  <a:srgbClr val="000000"/>
                </a:solidFill>
                <a:latin typeface="DM Serif Display"/>
                <a:ea typeface="DM Serif Display"/>
                <a:cs typeface="DM Serif Display"/>
                <a:sym typeface="DM Serif Display"/>
              </a:rPr>
              <a:t>Lawrence lobo financial services : </a:t>
            </a:r>
            <a:r>
              <a:rPr lang="en-US" sz="3476" u="sng">
                <a:solidFill>
                  <a:srgbClr val="000000"/>
                </a:solidFill>
                <a:latin typeface="DM Serif Display"/>
                <a:ea typeface="DM Serif Display"/>
                <a:cs typeface="DM Serif Display"/>
                <a:sym typeface="DM Serif Display"/>
                <a:hlinkClick r:id="rId11" tooltip="https://lawrencelobo.com"/>
              </a:rPr>
              <a:t>https://lawrencelobo.com</a:t>
            </a:r>
          </a:p>
          <a:p>
            <a:pPr algn="l" marL="750516" indent="-375258" lvl="1">
              <a:lnSpc>
                <a:spcPts val="7021"/>
              </a:lnSpc>
              <a:buFont typeface="Arial"/>
              <a:buChar char="•"/>
            </a:pPr>
            <a:r>
              <a:rPr lang="en-US" sz="3476">
                <a:solidFill>
                  <a:srgbClr val="000000"/>
                </a:solidFill>
                <a:latin typeface="DM Serif Display"/>
                <a:ea typeface="DM Serif Display"/>
                <a:cs typeface="DM Serif Display"/>
                <a:sym typeface="DM Serif Display"/>
              </a:rPr>
              <a:t>Pradeep hosmani financial services : </a:t>
            </a:r>
            <a:r>
              <a:rPr lang="en-US" sz="3476" u="sng">
                <a:solidFill>
                  <a:srgbClr val="000000"/>
                </a:solidFill>
                <a:latin typeface="DM Serif Display"/>
                <a:ea typeface="DM Serif Display"/>
                <a:cs typeface="DM Serif Display"/>
                <a:sym typeface="DM Serif Display"/>
                <a:hlinkClick r:id="rId12" tooltip="https://www.pradeephosmani.com"/>
              </a:rPr>
              <a:t>https://www.pradeephosmani.com</a:t>
            </a:r>
          </a:p>
          <a:p>
            <a:pPr algn="ctr">
              <a:lnSpc>
                <a:spcPts val="5666"/>
              </a:lnSpc>
            </a:pPr>
          </a:p>
          <a:p>
            <a:pPr algn="ctr">
              <a:lnSpc>
                <a:spcPts val="5666"/>
              </a:lnSpc>
            </a:pP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Freeform 3" id="3"/>
          <p:cNvSpPr/>
          <p:nvPr/>
        </p:nvSpPr>
        <p:spPr>
          <a:xfrm flipH="false" flipV="false" rot="0">
            <a:off x="-2329398" y="861489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030709" y="9258300"/>
            <a:ext cx="3059829" cy="751049"/>
          </a:xfrm>
          <a:custGeom>
            <a:avLst/>
            <a:gdLst/>
            <a:ahLst/>
            <a:cxnLst/>
            <a:rect r="r" b="b" t="t" l="l"/>
            <a:pathLst>
              <a:path h="751049" w="3059829">
                <a:moveTo>
                  <a:pt x="0" y="0"/>
                </a:moveTo>
                <a:lnTo>
                  <a:pt x="3059829" y="0"/>
                </a:lnTo>
                <a:lnTo>
                  <a:pt x="3059829" y="751049"/>
                </a:lnTo>
                <a:lnTo>
                  <a:pt x="0" y="75104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4215205" y="8540136"/>
            <a:ext cx="4602314" cy="3618569"/>
          </a:xfrm>
          <a:custGeom>
            <a:avLst/>
            <a:gdLst/>
            <a:ahLst/>
            <a:cxnLst/>
            <a:rect r="r" b="b" t="t" l="l"/>
            <a:pathLst>
              <a:path h="3618569" w="4602314">
                <a:moveTo>
                  <a:pt x="0" y="0"/>
                </a:moveTo>
                <a:lnTo>
                  <a:pt x="4602314" y="0"/>
                </a:lnTo>
                <a:lnTo>
                  <a:pt x="4602314" y="3618570"/>
                </a:lnTo>
                <a:lnTo>
                  <a:pt x="0" y="361857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6" id="6"/>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7" id="7"/>
          <p:cNvSpPr/>
          <p:nvPr/>
        </p:nvSpPr>
        <p:spPr>
          <a:xfrm flipH="false" flipV="false" rot="0">
            <a:off x="12686214" y="-2578193"/>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a:ln cap="sq">
            <a:noFill/>
            <a:prstDash val="solid"/>
            <a:miter/>
          </a:ln>
        </p:spPr>
      </p:sp>
      <p:sp>
        <p:nvSpPr>
          <p:cNvPr name="Freeform 9" id="9"/>
          <p:cNvSpPr/>
          <p:nvPr/>
        </p:nvSpPr>
        <p:spPr>
          <a:xfrm flipH="false" flipV="false" rot="0">
            <a:off x="7409323" y="-2700100"/>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a:ln cap="sq">
            <a:noFill/>
            <a:prstDash val="solid"/>
            <a:miter/>
          </a:ln>
        </p:spPr>
      </p:sp>
      <p:sp>
        <p:nvSpPr>
          <p:cNvPr name="Freeform 10" id="10"/>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a:ln cap="sq">
            <a:noFill/>
            <a:prstDash val="solid"/>
            <a:miter/>
          </a:ln>
        </p:spPr>
      </p:sp>
      <p:sp>
        <p:nvSpPr>
          <p:cNvPr name="Freeform 11" id="11"/>
          <p:cNvSpPr/>
          <p:nvPr/>
        </p:nvSpPr>
        <p:spPr>
          <a:xfrm flipH="false" flipV="false" rot="0">
            <a:off x="4831481" y="-1626507"/>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a:ln cap="sq">
            <a:noFill/>
            <a:prstDash val="solid"/>
            <a:miter/>
          </a:ln>
        </p:spPr>
      </p:sp>
      <p:sp>
        <p:nvSpPr>
          <p:cNvPr name="Freeform 12" id="12"/>
          <p:cNvSpPr/>
          <p:nvPr/>
        </p:nvSpPr>
        <p:spPr>
          <a:xfrm flipH="false" flipV="false" rot="0">
            <a:off x="17259300" y="2262342"/>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a:ln cap="sq">
            <a:noFill/>
            <a:prstDash val="solid"/>
            <a:miter/>
          </a:ln>
        </p:spPr>
      </p:sp>
      <p:sp>
        <p:nvSpPr>
          <p:cNvPr name="Freeform 13" id="13"/>
          <p:cNvSpPr/>
          <p:nvPr/>
        </p:nvSpPr>
        <p:spPr>
          <a:xfrm flipH="false" flipV="false" rot="0">
            <a:off x="2570549"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a:ln cap="sq">
            <a:noFill/>
            <a:prstDash val="solid"/>
            <a:miter/>
          </a:ln>
        </p:spPr>
      </p:sp>
      <p:sp>
        <p:nvSpPr>
          <p:cNvPr name="Freeform 14" id="14"/>
          <p:cNvSpPr/>
          <p:nvPr/>
        </p:nvSpPr>
        <p:spPr>
          <a:xfrm flipH="false" flipV="false" rot="-5282649">
            <a:off x="16440369" y="6970869"/>
            <a:ext cx="3382987" cy="1154444"/>
          </a:xfrm>
          <a:custGeom>
            <a:avLst/>
            <a:gdLst/>
            <a:ahLst/>
            <a:cxnLst/>
            <a:rect r="r" b="b" t="t" l="l"/>
            <a:pathLst>
              <a:path h="1154444" w="3382987">
                <a:moveTo>
                  <a:pt x="0" y="0"/>
                </a:moveTo>
                <a:lnTo>
                  <a:pt x="3382987" y="0"/>
                </a:lnTo>
                <a:lnTo>
                  <a:pt x="3382987" y="1154445"/>
                </a:lnTo>
                <a:lnTo>
                  <a:pt x="0" y="1154445"/>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a:ln cap="sq">
            <a:noFill/>
            <a:prstDash val="solid"/>
            <a:miter/>
          </a:ln>
        </p:spPr>
      </p:sp>
      <p:sp>
        <p:nvSpPr>
          <p:cNvPr name="Freeform 15" id="15"/>
          <p:cNvSpPr/>
          <p:nvPr/>
        </p:nvSpPr>
        <p:spPr>
          <a:xfrm flipH="false" flipV="false" rot="0">
            <a:off x="16978638" y="-642644"/>
            <a:ext cx="3104522" cy="3342688"/>
          </a:xfrm>
          <a:custGeom>
            <a:avLst/>
            <a:gdLst/>
            <a:ahLst/>
            <a:cxnLst/>
            <a:rect r="r" b="b" t="t" l="l"/>
            <a:pathLst>
              <a:path h="3342688" w="3104522">
                <a:moveTo>
                  <a:pt x="0" y="0"/>
                </a:moveTo>
                <a:lnTo>
                  <a:pt x="3104522" y="0"/>
                </a:lnTo>
                <a:lnTo>
                  <a:pt x="3104522" y="3342688"/>
                </a:lnTo>
                <a:lnTo>
                  <a:pt x="0" y="3342688"/>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a:ln cap="sq">
            <a:noFill/>
            <a:prstDash val="solid"/>
            <a:miter/>
          </a:ln>
        </p:spPr>
      </p:sp>
      <p:sp>
        <p:nvSpPr>
          <p:cNvPr name="TextBox 16" id="16"/>
          <p:cNvSpPr txBox="true"/>
          <p:nvPr/>
        </p:nvSpPr>
        <p:spPr>
          <a:xfrm rot="0">
            <a:off x="3635340" y="3649098"/>
            <a:ext cx="10910396" cy="3598404"/>
          </a:xfrm>
          <a:prstGeom prst="rect">
            <a:avLst/>
          </a:prstGeom>
        </p:spPr>
        <p:txBody>
          <a:bodyPr anchor="t" rtlCol="false" tIns="0" lIns="0" bIns="0" rIns="0">
            <a:spAutoFit/>
          </a:bodyPr>
          <a:lstStyle/>
          <a:p>
            <a:pPr algn="ctr">
              <a:lnSpc>
                <a:spcPts val="13362"/>
              </a:lnSpc>
            </a:pPr>
            <a:r>
              <a:rPr lang="en-US" sz="16497">
                <a:solidFill>
                  <a:srgbClr val="000000"/>
                </a:solidFill>
                <a:latin typeface="DM Serif Display"/>
                <a:ea typeface="DM Serif Display"/>
                <a:cs typeface="DM Serif Display"/>
                <a:sym typeface="DM Serif Display"/>
              </a:rPr>
              <a:t>Thank you very much!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DAF6WFqxji0</dc:identifier>
  <dcterms:modified xsi:type="dcterms:W3CDTF">2011-08-01T06:04:30Z</dcterms:modified>
  <cp:revision>1</cp:revision>
  <dc:title>WEB AAT 1</dc:title>
</cp:coreProperties>
</file>